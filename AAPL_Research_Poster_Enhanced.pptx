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Lst>
  <p:sldSz cx="21388388" cy="14209713"/>
  <p:notesSz cx="6858000" cy="9144000"/>
  <p:defaultTextStyle>
    <a:defPPr>
      <a:defRPr lang="en-US"/>
    </a:defPPr>
    <a:lvl1pPr marL="0" algn="l" defTabSz="296631" rtl="0" eaLnBrk="1" latinLnBrk="0" hangingPunct="1">
      <a:defRPr sz="1168" kern="1200">
        <a:solidFill>
          <a:schemeClr val="tx1"/>
        </a:solidFill>
        <a:latin typeface="+mn-lt"/>
        <a:ea typeface="+mn-ea"/>
        <a:cs typeface="+mn-cs"/>
      </a:defRPr>
    </a:lvl1pPr>
    <a:lvl2pPr marL="296631" algn="l" defTabSz="296631" rtl="0" eaLnBrk="1" latinLnBrk="0" hangingPunct="1">
      <a:defRPr sz="1168" kern="1200">
        <a:solidFill>
          <a:schemeClr val="tx1"/>
        </a:solidFill>
        <a:latin typeface="+mn-lt"/>
        <a:ea typeface="+mn-ea"/>
        <a:cs typeface="+mn-cs"/>
      </a:defRPr>
    </a:lvl2pPr>
    <a:lvl3pPr marL="593263" algn="l" defTabSz="296631" rtl="0" eaLnBrk="1" latinLnBrk="0" hangingPunct="1">
      <a:defRPr sz="1168" kern="1200">
        <a:solidFill>
          <a:schemeClr val="tx1"/>
        </a:solidFill>
        <a:latin typeface="+mn-lt"/>
        <a:ea typeface="+mn-ea"/>
        <a:cs typeface="+mn-cs"/>
      </a:defRPr>
    </a:lvl3pPr>
    <a:lvl4pPr marL="889894" algn="l" defTabSz="296631" rtl="0" eaLnBrk="1" latinLnBrk="0" hangingPunct="1">
      <a:defRPr sz="1168" kern="1200">
        <a:solidFill>
          <a:schemeClr val="tx1"/>
        </a:solidFill>
        <a:latin typeface="+mn-lt"/>
        <a:ea typeface="+mn-ea"/>
        <a:cs typeface="+mn-cs"/>
      </a:defRPr>
    </a:lvl4pPr>
    <a:lvl5pPr marL="1186525" algn="l" defTabSz="296631" rtl="0" eaLnBrk="1" latinLnBrk="0" hangingPunct="1">
      <a:defRPr sz="1168" kern="1200">
        <a:solidFill>
          <a:schemeClr val="tx1"/>
        </a:solidFill>
        <a:latin typeface="+mn-lt"/>
        <a:ea typeface="+mn-ea"/>
        <a:cs typeface="+mn-cs"/>
      </a:defRPr>
    </a:lvl5pPr>
    <a:lvl6pPr marL="1483157" algn="l" defTabSz="296631" rtl="0" eaLnBrk="1" latinLnBrk="0" hangingPunct="1">
      <a:defRPr sz="1168" kern="1200">
        <a:solidFill>
          <a:schemeClr val="tx1"/>
        </a:solidFill>
        <a:latin typeface="+mn-lt"/>
        <a:ea typeface="+mn-ea"/>
        <a:cs typeface="+mn-cs"/>
      </a:defRPr>
    </a:lvl6pPr>
    <a:lvl7pPr marL="1779788" algn="l" defTabSz="296631" rtl="0" eaLnBrk="1" latinLnBrk="0" hangingPunct="1">
      <a:defRPr sz="1168" kern="1200">
        <a:solidFill>
          <a:schemeClr val="tx1"/>
        </a:solidFill>
        <a:latin typeface="+mn-lt"/>
        <a:ea typeface="+mn-ea"/>
        <a:cs typeface="+mn-cs"/>
      </a:defRPr>
    </a:lvl7pPr>
    <a:lvl8pPr marL="2076420" algn="l" defTabSz="296631" rtl="0" eaLnBrk="1" latinLnBrk="0" hangingPunct="1">
      <a:defRPr sz="1168" kern="1200">
        <a:solidFill>
          <a:schemeClr val="tx1"/>
        </a:solidFill>
        <a:latin typeface="+mn-lt"/>
        <a:ea typeface="+mn-ea"/>
        <a:cs typeface="+mn-cs"/>
      </a:defRPr>
    </a:lvl8pPr>
    <a:lvl9pPr marL="2373051" algn="l" defTabSz="296631" rtl="0" eaLnBrk="1" latinLnBrk="0" hangingPunct="1">
      <a:defRPr sz="116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8" userDrawn="1">
          <p15:clr>
            <a:srgbClr val="A4A3A4"/>
          </p15:clr>
        </p15:guide>
        <p15:guide id="2" pos="1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09" autoAdjust="0"/>
    <p:restoredTop sz="94660"/>
  </p:normalViewPr>
  <p:slideViewPr>
    <p:cSldViewPr snapToGrid="0" snapToObjects="1">
      <p:cViewPr varScale="1">
        <p:scale>
          <a:sx n="40" d="100"/>
          <a:sy n="40" d="100"/>
        </p:scale>
        <p:origin x="475" y="38"/>
      </p:cViewPr>
      <p:guideLst>
        <p:guide orient="horz" pos="1398"/>
        <p:guide pos="187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5593" y="1379445"/>
            <a:ext cx="5050036" cy="951837"/>
          </a:xfrm>
        </p:spPr>
        <p:txBody>
          <a:bodyPr/>
          <a:lstStyle/>
          <a:p>
            <a:r>
              <a:rPr lang="en-US"/>
              <a:t>Click to edit Master title style</a:t>
            </a:r>
          </a:p>
        </p:txBody>
      </p:sp>
      <p:sp>
        <p:nvSpPr>
          <p:cNvPr id="3" name="Subtitle 2"/>
          <p:cNvSpPr>
            <a:spLocks noGrp="1"/>
          </p:cNvSpPr>
          <p:nvPr>
            <p:ph type="subTitle" idx="1"/>
          </p:nvPr>
        </p:nvSpPr>
        <p:spPr>
          <a:xfrm>
            <a:off x="891182" y="2516303"/>
            <a:ext cx="4158854" cy="1134803"/>
          </a:xfrm>
        </p:spPr>
        <p:txBody>
          <a:bodyPr/>
          <a:lstStyle>
            <a:lvl1pPr marL="0" indent="0" algn="ctr">
              <a:buNone/>
              <a:defRPr>
                <a:solidFill>
                  <a:schemeClr val="tx1">
                    <a:tint val="75000"/>
                  </a:schemeClr>
                </a:solidFill>
              </a:defRPr>
            </a:lvl1pPr>
            <a:lvl2pPr marL="197373" indent="0" algn="ctr">
              <a:buNone/>
              <a:defRPr>
                <a:solidFill>
                  <a:schemeClr val="tx1">
                    <a:tint val="75000"/>
                  </a:schemeClr>
                </a:solidFill>
              </a:defRPr>
            </a:lvl2pPr>
            <a:lvl3pPr marL="394746" indent="0" algn="ctr">
              <a:buNone/>
              <a:defRPr>
                <a:solidFill>
                  <a:schemeClr val="tx1">
                    <a:tint val="75000"/>
                  </a:schemeClr>
                </a:solidFill>
              </a:defRPr>
            </a:lvl3pPr>
            <a:lvl4pPr marL="592120" indent="0" algn="ctr">
              <a:buNone/>
              <a:defRPr>
                <a:solidFill>
                  <a:schemeClr val="tx1">
                    <a:tint val="75000"/>
                  </a:schemeClr>
                </a:solidFill>
              </a:defRPr>
            </a:lvl4pPr>
            <a:lvl5pPr marL="789493" indent="0" algn="ctr">
              <a:buNone/>
              <a:defRPr>
                <a:solidFill>
                  <a:schemeClr val="tx1">
                    <a:tint val="75000"/>
                  </a:schemeClr>
                </a:solidFill>
              </a:defRPr>
            </a:lvl5pPr>
            <a:lvl6pPr marL="986866" indent="0" algn="ctr">
              <a:buNone/>
              <a:defRPr>
                <a:solidFill>
                  <a:schemeClr val="tx1">
                    <a:tint val="75000"/>
                  </a:schemeClr>
                </a:solidFill>
              </a:defRPr>
            </a:lvl6pPr>
            <a:lvl7pPr marL="1184239" indent="0" algn="ctr">
              <a:buNone/>
              <a:defRPr>
                <a:solidFill>
                  <a:schemeClr val="tx1">
                    <a:tint val="75000"/>
                  </a:schemeClr>
                </a:solidFill>
              </a:defRPr>
            </a:lvl7pPr>
            <a:lvl8pPr marL="1381613" indent="0" algn="ctr">
              <a:buNone/>
              <a:defRPr>
                <a:solidFill>
                  <a:schemeClr val="tx1">
                    <a:tint val="75000"/>
                  </a:schemeClr>
                </a:solidFill>
              </a:defRPr>
            </a:lvl8pPr>
            <a:lvl9pPr marL="157898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9316" y="2853456"/>
            <a:ext cx="5050036" cy="881940"/>
          </a:xfrm>
        </p:spPr>
        <p:txBody>
          <a:bodyPr anchor="t"/>
          <a:lstStyle>
            <a:lvl1pPr algn="l">
              <a:defRPr sz="1727" b="1" cap="all"/>
            </a:lvl1pPr>
          </a:lstStyle>
          <a:p>
            <a:r>
              <a:rPr lang="en-US"/>
              <a:t>Click to edit Master title style</a:t>
            </a:r>
          </a:p>
        </p:txBody>
      </p:sp>
      <p:sp>
        <p:nvSpPr>
          <p:cNvPr id="3" name="Text Placeholder 2"/>
          <p:cNvSpPr>
            <a:spLocks noGrp="1"/>
          </p:cNvSpPr>
          <p:nvPr>
            <p:ph type="body" idx="1"/>
          </p:nvPr>
        </p:nvSpPr>
        <p:spPr>
          <a:xfrm>
            <a:off x="469316" y="1882088"/>
            <a:ext cx="5050036" cy="971367"/>
          </a:xfrm>
        </p:spPr>
        <p:txBody>
          <a:bodyPr anchor="b"/>
          <a:lstStyle>
            <a:lvl1pPr marL="0" indent="0">
              <a:buNone/>
              <a:defRPr sz="863">
                <a:solidFill>
                  <a:schemeClr val="tx1">
                    <a:tint val="75000"/>
                  </a:schemeClr>
                </a:solidFill>
              </a:defRPr>
            </a:lvl1pPr>
            <a:lvl2pPr marL="197373" indent="0">
              <a:buNone/>
              <a:defRPr sz="777">
                <a:solidFill>
                  <a:schemeClr val="tx1">
                    <a:tint val="75000"/>
                  </a:schemeClr>
                </a:solidFill>
              </a:defRPr>
            </a:lvl2pPr>
            <a:lvl3pPr marL="394746" indent="0">
              <a:buNone/>
              <a:defRPr sz="691">
                <a:solidFill>
                  <a:schemeClr val="tx1">
                    <a:tint val="75000"/>
                  </a:schemeClr>
                </a:solidFill>
              </a:defRPr>
            </a:lvl3pPr>
            <a:lvl4pPr marL="592120" indent="0">
              <a:buNone/>
              <a:defRPr sz="604">
                <a:solidFill>
                  <a:schemeClr val="tx1">
                    <a:tint val="75000"/>
                  </a:schemeClr>
                </a:solidFill>
              </a:defRPr>
            </a:lvl4pPr>
            <a:lvl5pPr marL="789493" indent="0">
              <a:buNone/>
              <a:defRPr sz="604">
                <a:solidFill>
                  <a:schemeClr val="tx1">
                    <a:tint val="75000"/>
                  </a:schemeClr>
                </a:solidFill>
              </a:defRPr>
            </a:lvl5pPr>
            <a:lvl6pPr marL="986866" indent="0">
              <a:buNone/>
              <a:defRPr sz="604">
                <a:solidFill>
                  <a:schemeClr val="tx1">
                    <a:tint val="75000"/>
                  </a:schemeClr>
                </a:solidFill>
              </a:defRPr>
            </a:lvl6pPr>
            <a:lvl7pPr marL="1184239" indent="0">
              <a:buNone/>
              <a:defRPr sz="604">
                <a:solidFill>
                  <a:schemeClr val="tx1">
                    <a:tint val="75000"/>
                  </a:schemeClr>
                </a:solidFill>
              </a:defRPr>
            </a:lvl7pPr>
            <a:lvl8pPr marL="1381613" indent="0">
              <a:buNone/>
              <a:defRPr sz="604">
                <a:solidFill>
                  <a:schemeClr val="tx1">
                    <a:tint val="75000"/>
                  </a:schemeClr>
                </a:solidFill>
              </a:defRPr>
            </a:lvl8pPr>
            <a:lvl9pPr marL="1578986" indent="0">
              <a:buNone/>
              <a:defRPr sz="60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97061" y="1036125"/>
            <a:ext cx="2624038" cy="2930548"/>
          </a:xfrm>
        </p:spPr>
        <p:txBody>
          <a:bodyPr/>
          <a:lstStyle>
            <a:lvl1pPr>
              <a:defRPr sz="1209"/>
            </a:lvl1pPr>
            <a:lvl2pPr>
              <a:defRPr sz="1036"/>
            </a:lvl2pPr>
            <a:lvl3pPr>
              <a:defRPr sz="863"/>
            </a:lvl3pPr>
            <a:lvl4pPr>
              <a:defRPr sz="777"/>
            </a:lvl4pPr>
            <a:lvl5pPr>
              <a:defRPr sz="777"/>
            </a:lvl5pPr>
            <a:lvl6pPr>
              <a:defRPr sz="777"/>
            </a:lvl6pPr>
            <a:lvl7pPr>
              <a:defRPr sz="777"/>
            </a:lvl7pPr>
            <a:lvl8pPr>
              <a:defRPr sz="777"/>
            </a:lvl8pPr>
            <a:lvl9pPr>
              <a:defRPr sz="7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20120" y="1036125"/>
            <a:ext cx="2624038" cy="2930548"/>
          </a:xfrm>
        </p:spPr>
        <p:txBody>
          <a:bodyPr/>
          <a:lstStyle>
            <a:lvl1pPr>
              <a:defRPr sz="1209"/>
            </a:lvl1pPr>
            <a:lvl2pPr>
              <a:defRPr sz="1036"/>
            </a:lvl2pPr>
            <a:lvl3pPr>
              <a:defRPr sz="863"/>
            </a:lvl3pPr>
            <a:lvl4pPr>
              <a:defRPr sz="777"/>
            </a:lvl4pPr>
            <a:lvl5pPr>
              <a:defRPr sz="777"/>
            </a:lvl5pPr>
            <a:lvl6pPr>
              <a:defRPr sz="777"/>
            </a:lvl6pPr>
            <a:lvl7pPr>
              <a:defRPr sz="777"/>
            </a:lvl7pPr>
            <a:lvl8pPr>
              <a:defRPr sz="777"/>
            </a:lvl8pPr>
            <a:lvl9pPr>
              <a:defRPr sz="7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97062" y="993982"/>
            <a:ext cx="2625070" cy="414244"/>
          </a:xfrm>
        </p:spPr>
        <p:txBody>
          <a:bodyPr anchor="b"/>
          <a:lstStyle>
            <a:lvl1pPr marL="0" indent="0">
              <a:buNone/>
              <a:defRPr sz="1036" b="1"/>
            </a:lvl1pPr>
            <a:lvl2pPr marL="197373" indent="0">
              <a:buNone/>
              <a:defRPr sz="863" b="1"/>
            </a:lvl2pPr>
            <a:lvl3pPr marL="394746" indent="0">
              <a:buNone/>
              <a:defRPr sz="777" b="1"/>
            </a:lvl3pPr>
            <a:lvl4pPr marL="592120" indent="0">
              <a:buNone/>
              <a:defRPr sz="691" b="1"/>
            </a:lvl4pPr>
            <a:lvl5pPr marL="789493" indent="0">
              <a:buNone/>
              <a:defRPr sz="691" b="1"/>
            </a:lvl5pPr>
            <a:lvl6pPr marL="986866" indent="0">
              <a:buNone/>
              <a:defRPr sz="691" b="1"/>
            </a:lvl6pPr>
            <a:lvl7pPr marL="1184239" indent="0">
              <a:buNone/>
              <a:defRPr sz="691" b="1"/>
            </a:lvl7pPr>
            <a:lvl8pPr marL="1381613" indent="0">
              <a:buNone/>
              <a:defRPr sz="691" b="1"/>
            </a:lvl8pPr>
            <a:lvl9pPr marL="1578986" indent="0">
              <a:buNone/>
              <a:defRPr sz="691" b="1"/>
            </a:lvl9pPr>
          </a:lstStyle>
          <a:p>
            <a:pPr lvl="0"/>
            <a:r>
              <a:rPr lang="en-US"/>
              <a:t>Click to edit Master text styles</a:t>
            </a:r>
          </a:p>
        </p:txBody>
      </p:sp>
      <p:sp>
        <p:nvSpPr>
          <p:cNvPr id="4" name="Content Placeholder 3"/>
          <p:cNvSpPr>
            <a:spLocks noGrp="1"/>
          </p:cNvSpPr>
          <p:nvPr>
            <p:ph sz="half" idx="2"/>
          </p:nvPr>
        </p:nvSpPr>
        <p:spPr>
          <a:xfrm>
            <a:off x="297062" y="1408226"/>
            <a:ext cx="2625070" cy="2558447"/>
          </a:xfrm>
        </p:spPr>
        <p:txBody>
          <a:bodyPr/>
          <a:lstStyle>
            <a:lvl1pPr>
              <a:defRPr sz="1036"/>
            </a:lvl1pPr>
            <a:lvl2pPr>
              <a:defRPr sz="863"/>
            </a:lvl2pPr>
            <a:lvl3pPr>
              <a:defRPr sz="777"/>
            </a:lvl3pPr>
            <a:lvl4pPr>
              <a:defRPr sz="691"/>
            </a:lvl4pPr>
            <a:lvl5pPr>
              <a:defRPr sz="691"/>
            </a:lvl5pPr>
            <a:lvl6pPr>
              <a:defRPr sz="691"/>
            </a:lvl6pPr>
            <a:lvl7pPr>
              <a:defRPr sz="691"/>
            </a:lvl7pPr>
            <a:lvl8pPr>
              <a:defRPr sz="691"/>
            </a:lvl8pPr>
            <a:lvl9pPr>
              <a:defRPr sz="6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18057" y="993982"/>
            <a:ext cx="2626102" cy="414244"/>
          </a:xfrm>
        </p:spPr>
        <p:txBody>
          <a:bodyPr anchor="b"/>
          <a:lstStyle>
            <a:lvl1pPr marL="0" indent="0">
              <a:buNone/>
              <a:defRPr sz="1036" b="1"/>
            </a:lvl1pPr>
            <a:lvl2pPr marL="197373" indent="0">
              <a:buNone/>
              <a:defRPr sz="863" b="1"/>
            </a:lvl2pPr>
            <a:lvl3pPr marL="394746" indent="0">
              <a:buNone/>
              <a:defRPr sz="777" b="1"/>
            </a:lvl3pPr>
            <a:lvl4pPr marL="592120" indent="0">
              <a:buNone/>
              <a:defRPr sz="691" b="1"/>
            </a:lvl4pPr>
            <a:lvl5pPr marL="789493" indent="0">
              <a:buNone/>
              <a:defRPr sz="691" b="1"/>
            </a:lvl5pPr>
            <a:lvl6pPr marL="986866" indent="0">
              <a:buNone/>
              <a:defRPr sz="691" b="1"/>
            </a:lvl6pPr>
            <a:lvl7pPr marL="1184239" indent="0">
              <a:buNone/>
              <a:defRPr sz="691" b="1"/>
            </a:lvl7pPr>
            <a:lvl8pPr marL="1381613" indent="0">
              <a:buNone/>
              <a:defRPr sz="691" b="1"/>
            </a:lvl8pPr>
            <a:lvl9pPr marL="1578986" indent="0">
              <a:buNone/>
              <a:defRPr sz="691" b="1"/>
            </a:lvl9pPr>
          </a:lstStyle>
          <a:p>
            <a:pPr lvl="0"/>
            <a:r>
              <a:rPr lang="en-US"/>
              <a:t>Click to edit Master text styles</a:t>
            </a:r>
          </a:p>
        </p:txBody>
      </p:sp>
      <p:sp>
        <p:nvSpPr>
          <p:cNvPr id="6" name="Content Placeholder 5"/>
          <p:cNvSpPr>
            <a:spLocks noGrp="1"/>
          </p:cNvSpPr>
          <p:nvPr>
            <p:ph sz="quarter" idx="4"/>
          </p:nvPr>
        </p:nvSpPr>
        <p:spPr>
          <a:xfrm>
            <a:off x="3018057" y="1408226"/>
            <a:ext cx="2626102" cy="2558447"/>
          </a:xfrm>
        </p:spPr>
        <p:txBody>
          <a:bodyPr/>
          <a:lstStyle>
            <a:lvl1pPr>
              <a:defRPr sz="1036"/>
            </a:lvl1pPr>
            <a:lvl2pPr>
              <a:defRPr sz="863"/>
            </a:lvl2pPr>
            <a:lvl3pPr>
              <a:defRPr sz="777"/>
            </a:lvl3pPr>
            <a:lvl4pPr>
              <a:defRPr sz="691"/>
            </a:lvl4pPr>
            <a:lvl5pPr>
              <a:defRPr sz="691"/>
            </a:lvl5pPr>
            <a:lvl6pPr>
              <a:defRPr sz="691"/>
            </a:lvl6pPr>
            <a:lvl7pPr>
              <a:defRPr sz="691"/>
            </a:lvl7pPr>
            <a:lvl8pPr>
              <a:defRPr sz="691"/>
            </a:lvl8pPr>
            <a:lvl9pPr>
              <a:defRPr sz="6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7061" y="176799"/>
            <a:ext cx="1954621" cy="752424"/>
          </a:xfrm>
        </p:spPr>
        <p:txBody>
          <a:bodyPr anchor="b"/>
          <a:lstStyle>
            <a:lvl1pPr algn="l">
              <a:defRPr sz="863" b="1"/>
            </a:lvl1pPr>
          </a:lstStyle>
          <a:p>
            <a:r>
              <a:rPr lang="en-US"/>
              <a:t>Click to edit Master title style</a:t>
            </a:r>
          </a:p>
        </p:txBody>
      </p:sp>
      <p:sp>
        <p:nvSpPr>
          <p:cNvPr id="3" name="Content Placeholder 2"/>
          <p:cNvSpPr>
            <a:spLocks noGrp="1"/>
          </p:cNvSpPr>
          <p:nvPr>
            <p:ph idx="1"/>
          </p:nvPr>
        </p:nvSpPr>
        <p:spPr>
          <a:xfrm>
            <a:off x="2322851" y="176800"/>
            <a:ext cx="3321306" cy="3789874"/>
          </a:xfrm>
        </p:spPr>
        <p:txBody>
          <a:bodyPr/>
          <a:lstStyle>
            <a:lvl1pPr>
              <a:defRPr sz="1381"/>
            </a:lvl1pPr>
            <a:lvl2pPr>
              <a:defRPr sz="1209"/>
            </a:lvl2pPr>
            <a:lvl3pPr>
              <a:defRPr sz="1036"/>
            </a:lvl3pPr>
            <a:lvl4pPr>
              <a:defRPr sz="863"/>
            </a:lvl4pPr>
            <a:lvl5pPr>
              <a:defRPr sz="863"/>
            </a:lvl5pPr>
            <a:lvl6pPr>
              <a:defRPr sz="863"/>
            </a:lvl6pPr>
            <a:lvl7pPr>
              <a:defRPr sz="863"/>
            </a:lvl7pPr>
            <a:lvl8pPr>
              <a:defRPr sz="863"/>
            </a:lvl8pPr>
            <a:lvl9pPr>
              <a:defRPr sz="8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97061" y="929223"/>
            <a:ext cx="1954621" cy="3037450"/>
          </a:xfrm>
        </p:spPr>
        <p:txBody>
          <a:bodyPr/>
          <a:lstStyle>
            <a:lvl1pPr marL="0" indent="0">
              <a:buNone/>
              <a:defRPr sz="604"/>
            </a:lvl1pPr>
            <a:lvl2pPr marL="197373" indent="0">
              <a:buNone/>
              <a:defRPr sz="518"/>
            </a:lvl2pPr>
            <a:lvl3pPr marL="394746" indent="0">
              <a:buNone/>
              <a:defRPr sz="432"/>
            </a:lvl3pPr>
            <a:lvl4pPr marL="592120" indent="0">
              <a:buNone/>
              <a:defRPr sz="389"/>
            </a:lvl4pPr>
            <a:lvl5pPr marL="789493" indent="0">
              <a:buNone/>
              <a:defRPr sz="389"/>
            </a:lvl5pPr>
            <a:lvl6pPr marL="986866" indent="0">
              <a:buNone/>
              <a:defRPr sz="389"/>
            </a:lvl6pPr>
            <a:lvl7pPr marL="1184239" indent="0">
              <a:buNone/>
              <a:defRPr sz="389"/>
            </a:lvl7pPr>
            <a:lvl8pPr marL="1381613" indent="0">
              <a:buNone/>
              <a:defRPr sz="389"/>
            </a:lvl8pPr>
            <a:lvl9pPr marL="1578986" indent="0">
              <a:buNone/>
              <a:defRPr sz="389"/>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64520" y="3108375"/>
            <a:ext cx="3564732" cy="366961"/>
          </a:xfrm>
        </p:spPr>
        <p:txBody>
          <a:bodyPr anchor="b"/>
          <a:lstStyle>
            <a:lvl1pPr algn="l">
              <a:defRPr sz="863" b="1"/>
            </a:lvl1pPr>
          </a:lstStyle>
          <a:p>
            <a:r>
              <a:rPr lang="en-US"/>
              <a:t>Click to edit Master title style</a:t>
            </a:r>
          </a:p>
        </p:txBody>
      </p:sp>
      <p:sp>
        <p:nvSpPr>
          <p:cNvPr id="3" name="Picture Placeholder 2"/>
          <p:cNvSpPr>
            <a:spLocks noGrp="1"/>
          </p:cNvSpPr>
          <p:nvPr>
            <p:ph type="pic" idx="1"/>
          </p:nvPr>
        </p:nvSpPr>
        <p:spPr>
          <a:xfrm>
            <a:off x="1164520" y="396770"/>
            <a:ext cx="3564732" cy="2664321"/>
          </a:xfrm>
        </p:spPr>
        <p:txBody>
          <a:bodyPr/>
          <a:lstStyle>
            <a:lvl1pPr marL="0" indent="0">
              <a:buNone/>
              <a:defRPr sz="1381"/>
            </a:lvl1pPr>
            <a:lvl2pPr marL="197373" indent="0">
              <a:buNone/>
              <a:defRPr sz="1209"/>
            </a:lvl2pPr>
            <a:lvl3pPr marL="394746" indent="0">
              <a:buNone/>
              <a:defRPr sz="1036"/>
            </a:lvl3pPr>
            <a:lvl4pPr marL="592120" indent="0">
              <a:buNone/>
              <a:defRPr sz="863"/>
            </a:lvl4pPr>
            <a:lvl5pPr marL="789493" indent="0">
              <a:buNone/>
              <a:defRPr sz="863"/>
            </a:lvl5pPr>
            <a:lvl6pPr marL="986866" indent="0">
              <a:buNone/>
              <a:defRPr sz="863"/>
            </a:lvl6pPr>
            <a:lvl7pPr marL="1184239" indent="0">
              <a:buNone/>
              <a:defRPr sz="863"/>
            </a:lvl7pPr>
            <a:lvl8pPr marL="1381613" indent="0">
              <a:buNone/>
              <a:defRPr sz="863"/>
            </a:lvl8pPr>
            <a:lvl9pPr marL="1578986" indent="0">
              <a:buNone/>
              <a:defRPr sz="863"/>
            </a:lvl9pPr>
          </a:lstStyle>
          <a:p>
            <a:endParaRPr lang="en-US"/>
          </a:p>
        </p:txBody>
      </p:sp>
      <p:sp>
        <p:nvSpPr>
          <p:cNvPr id="4" name="Text Placeholder 3"/>
          <p:cNvSpPr>
            <a:spLocks noGrp="1"/>
          </p:cNvSpPr>
          <p:nvPr>
            <p:ph type="body" sz="half" idx="2"/>
          </p:nvPr>
        </p:nvSpPr>
        <p:spPr>
          <a:xfrm>
            <a:off x="1164520" y="3475336"/>
            <a:ext cx="3564732" cy="521146"/>
          </a:xfrm>
        </p:spPr>
        <p:txBody>
          <a:bodyPr/>
          <a:lstStyle>
            <a:lvl1pPr marL="0" indent="0">
              <a:buNone/>
              <a:defRPr sz="604"/>
            </a:lvl1pPr>
            <a:lvl2pPr marL="197373" indent="0">
              <a:buNone/>
              <a:defRPr sz="518"/>
            </a:lvl2pPr>
            <a:lvl3pPr marL="394746" indent="0">
              <a:buNone/>
              <a:defRPr sz="432"/>
            </a:lvl3pPr>
            <a:lvl4pPr marL="592120" indent="0">
              <a:buNone/>
              <a:defRPr sz="389"/>
            </a:lvl4pPr>
            <a:lvl5pPr marL="789493" indent="0">
              <a:buNone/>
              <a:defRPr sz="389"/>
            </a:lvl5pPr>
            <a:lvl6pPr marL="986866" indent="0">
              <a:buNone/>
              <a:defRPr sz="389"/>
            </a:lvl6pPr>
            <a:lvl7pPr marL="1184239" indent="0">
              <a:buNone/>
              <a:defRPr sz="389"/>
            </a:lvl7pPr>
            <a:lvl8pPr marL="1381613" indent="0">
              <a:buNone/>
              <a:defRPr sz="389"/>
            </a:lvl8pPr>
            <a:lvl9pPr marL="1578986" indent="0">
              <a:buNone/>
              <a:defRPr sz="389"/>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307384" y="177828"/>
            <a:ext cx="1336774" cy="37888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7061" y="177828"/>
            <a:ext cx="3911302" cy="37888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7061" y="177828"/>
            <a:ext cx="5347097" cy="7400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97061" y="1036125"/>
            <a:ext cx="5347097" cy="29305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97061" y="4115719"/>
            <a:ext cx="1386285" cy="236417"/>
          </a:xfrm>
          <a:prstGeom prst="rect">
            <a:avLst/>
          </a:prstGeom>
        </p:spPr>
        <p:txBody>
          <a:bodyPr vert="horz" lIns="91440" tIns="45720" rIns="91440" bIns="45720" rtlCol="0" anchor="ctr"/>
          <a:lstStyle>
            <a:lvl1pPr algn="l">
              <a:defRPr sz="518">
                <a:solidFill>
                  <a:schemeClr val="tx1">
                    <a:tint val="75000"/>
                  </a:schemeClr>
                </a:solidFill>
              </a:defRPr>
            </a:lvl1pPr>
          </a:lstStyle>
          <a:p>
            <a:fld id="{5BCAD085-E8A6-8845-BD4E-CB4CCA059FC4}" type="datetimeFigureOut">
              <a:rPr lang="en-US" smtClean="0"/>
              <a:t>8/12/2026</a:t>
            </a:fld>
            <a:endParaRPr lang="en-US"/>
          </a:p>
        </p:txBody>
      </p:sp>
      <p:sp>
        <p:nvSpPr>
          <p:cNvPr id="5" name="Footer Placeholder 4"/>
          <p:cNvSpPr>
            <a:spLocks noGrp="1"/>
          </p:cNvSpPr>
          <p:nvPr>
            <p:ph type="ftr" sz="quarter" idx="3"/>
          </p:nvPr>
        </p:nvSpPr>
        <p:spPr>
          <a:xfrm>
            <a:off x="2029917" y="4115719"/>
            <a:ext cx="1881385" cy="236417"/>
          </a:xfrm>
          <a:prstGeom prst="rect">
            <a:avLst/>
          </a:prstGeom>
        </p:spPr>
        <p:txBody>
          <a:bodyPr vert="horz" lIns="91440" tIns="45720" rIns="91440" bIns="45720" rtlCol="0" anchor="ctr"/>
          <a:lstStyle>
            <a:lvl1pPr algn="ctr">
              <a:defRPr sz="51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257873" y="4115719"/>
            <a:ext cx="1386285" cy="236417"/>
          </a:xfrm>
          <a:prstGeom prst="rect">
            <a:avLst/>
          </a:prstGeom>
        </p:spPr>
        <p:txBody>
          <a:bodyPr vert="horz" lIns="91440" tIns="45720" rIns="91440" bIns="45720" rtlCol="0" anchor="ctr"/>
          <a:lstStyle>
            <a:lvl1pPr algn="r">
              <a:defRPr sz="518">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97373" rtl="0" eaLnBrk="1" latinLnBrk="0" hangingPunct="1">
        <a:spcBef>
          <a:spcPct val="0"/>
        </a:spcBef>
        <a:buNone/>
        <a:defRPr sz="1899" kern="1200">
          <a:solidFill>
            <a:schemeClr val="tx1"/>
          </a:solidFill>
          <a:latin typeface="+mj-lt"/>
          <a:ea typeface="+mj-ea"/>
          <a:cs typeface="+mj-cs"/>
        </a:defRPr>
      </a:lvl1pPr>
    </p:titleStyle>
    <p:bodyStyle>
      <a:lvl1pPr marL="148030" indent="-148030" algn="l" defTabSz="197373" rtl="0" eaLnBrk="1" latinLnBrk="0" hangingPunct="1">
        <a:spcBef>
          <a:spcPct val="20000"/>
        </a:spcBef>
        <a:buFont typeface="Arial"/>
        <a:buChar char="•"/>
        <a:defRPr sz="1381" kern="1200">
          <a:solidFill>
            <a:schemeClr val="tx1"/>
          </a:solidFill>
          <a:latin typeface="+mn-lt"/>
          <a:ea typeface="+mn-ea"/>
          <a:cs typeface="+mn-cs"/>
        </a:defRPr>
      </a:lvl1pPr>
      <a:lvl2pPr marL="320732" indent="-123358" algn="l" defTabSz="197373" rtl="0" eaLnBrk="1" latinLnBrk="0" hangingPunct="1">
        <a:spcBef>
          <a:spcPct val="20000"/>
        </a:spcBef>
        <a:buFont typeface="Arial"/>
        <a:buChar char="–"/>
        <a:defRPr sz="1209" kern="1200">
          <a:solidFill>
            <a:schemeClr val="tx1"/>
          </a:solidFill>
          <a:latin typeface="+mn-lt"/>
          <a:ea typeface="+mn-ea"/>
          <a:cs typeface="+mn-cs"/>
        </a:defRPr>
      </a:lvl2pPr>
      <a:lvl3pPr marL="493433" indent="-98687" algn="l" defTabSz="197373" rtl="0" eaLnBrk="1" latinLnBrk="0" hangingPunct="1">
        <a:spcBef>
          <a:spcPct val="20000"/>
        </a:spcBef>
        <a:buFont typeface="Arial"/>
        <a:buChar char="•"/>
        <a:defRPr sz="1036" kern="1200">
          <a:solidFill>
            <a:schemeClr val="tx1"/>
          </a:solidFill>
          <a:latin typeface="+mn-lt"/>
          <a:ea typeface="+mn-ea"/>
          <a:cs typeface="+mn-cs"/>
        </a:defRPr>
      </a:lvl3pPr>
      <a:lvl4pPr marL="690806" indent="-98687" algn="l" defTabSz="197373" rtl="0" eaLnBrk="1" latinLnBrk="0" hangingPunct="1">
        <a:spcBef>
          <a:spcPct val="20000"/>
        </a:spcBef>
        <a:buFont typeface="Arial"/>
        <a:buChar char="–"/>
        <a:defRPr sz="863" kern="1200">
          <a:solidFill>
            <a:schemeClr val="tx1"/>
          </a:solidFill>
          <a:latin typeface="+mn-lt"/>
          <a:ea typeface="+mn-ea"/>
          <a:cs typeface="+mn-cs"/>
        </a:defRPr>
      </a:lvl4pPr>
      <a:lvl5pPr marL="888180" indent="-98687" algn="l" defTabSz="197373" rtl="0" eaLnBrk="1" latinLnBrk="0" hangingPunct="1">
        <a:spcBef>
          <a:spcPct val="20000"/>
        </a:spcBef>
        <a:buFont typeface="Arial"/>
        <a:buChar char="»"/>
        <a:defRPr sz="863" kern="1200">
          <a:solidFill>
            <a:schemeClr val="tx1"/>
          </a:solidFill>
          <a:latin typeface="+mn-lt"/>
          <a:ea typeface="+mn-ea"/>
          <a:cs typeface="+mn-cs"/>
        </a:defRPr>
      </a:lvl5pPr>
      <a:lvl6pPr marL="1085553" indent="-98687" algn="l" defTabSz="197373" rtl="0" eaLnBrk="1" latinLnBrk="0" hangingPunct="1">
        <a:spcBef>
          <a:spcPct val="20000"/>
        </a:spcBef>
        <a:buFont typeface="Arial"/>
        <a:buChar char="•"/>
        <a:defRPr sz="863" kern="1200">
          <a:solidFill>
            <a:schemeClr val="tx1"/>
          </a:solidFill>
          <a:latin typeface="+mn-lt"/>
          <a:ea typeface="+mn-ea"/>
          <a:cs typeface="+mn-cs"/>
        </a:defRPr>
      </a:lvl6pPr>
      <a:lvl7pPr marL="1282926" indent="-98687" algn="l" defTabSz="197373" rtl="0" eaLnBrk="1" latinLnBrk="0" hangingPunct="1">
        <a:spcBef>
          <a:spcPct val="20000"/>
        </a:spcBef>
        <a:buFont typeface="Arial"/>
        <a:buChar char="•"/>
        <a:defRPr sz="863" kern="1200">
          <a:solidFill>
            <a:schemeClr val="tx1"/>
          </a:solidFill>
          <a:latin typeface="+mn-lt"/>
          <a:ea typeface="+mn-ea"/>
          <a:cs typeface="+mn-cs"/>
        </a:defRPr>
      </a:lvl7pPr>
      <a:lvl8pPr marL="1480299" indent="-98687" algn="l" defTabSz="197373" rtl="0" eaLnBrk="1" latinLnBrk="0" hangingPunct="1">
        <a:spcBef>
          <a:spcPct val="20000"/>
        </a:spcBef>
        <a:buFont typeface="Arial"/>
        <a:buChar char="•"/>
        <a:defRPr sz="863" kern="1200">
          <a:solidFill>
            <a:schemeClr val="tx1"/>
          </a:solidFill>
          <a:latin typeface="+mn-lt"/>
          <a:ea typeface="+mn-ea"/>
          <a:cs typeface="+mn-cs"/>
        </a:defRPr>
      </a:lvl8pPr>
      <a:lvl9pPr marL="1677673" indent="-98687" algn="l" defTabSz="197373" rtl="0" eaLnBrk="1" latinLnBrk="0" hangingPunct="1">
        <a:spcBef>
          <a:spcPct val="20000"/>
        </a:spcBef>
        <a:buFont typeface="Arial"/>
        <a:buChar char="•"/>
        <a:defRPr sz="863" kern="1200">
          <a:solidFill>
            <a:schemeClr val="tx1"/>
          </a:solidFill>
          <a:latin typeface="+mn-lt"/>
          <a:ea typeface="+mn-ea"/>
          <a:cs typeface="+mn-cs"/>
        </a:defRPr>
      </a:lvl9pPr>
    </p:bodyStyle>
    <p:otherStyle>
      <a:defPPr>
        <a:defRPr lang="en-US"/>
      </a:defPPr>
      <a:lvl1pPr marL="0" algn="l" defTabSz="197373" rtl="0" eaLnBrk="1" latinLnBrk="0" hangingPunct="1">
        <a:defRPr sz="777" kern="1200">
          <a:solidFill>
            <a:schemeClr val="tx1"/>
          </a:solidFill>
          <a:latin typeface="+mn-lt"/>
          <a:ea typeface="+mn-ea"/>
          <a:cs typeface="+mn-cs"/>
        </a:defRPr>
      </a:lvl1pPr>
      <a:lvl2pPr marL="197373" algn="l" defTabSz="197373" rtl="0" eaLnBrk="1" latinLnBrk="0" hangingPunct="1">
        <a:defRPr sz="777" kern="1200">
          <a:solidFill>
            <a:schemeClr val="tx1"/>
          </a:solidFill>
          <a:latin typeface="+mn-lt"/>
          <a:ea typeface="+mn-ea"/>
          <a:cs typeface="+mn-cs"/>
        </a:defRPr>
      </a:lvl2pPr>
      <a:lvl3pPr marL="394746" algn="l" defTabSz="197373" rtl="0" eaLnBrk="1" latinLnBrk="0" hangingPunct="1">
        <a:defRPr sz="777" kern="1200">
          <a:solidFill>
            <a:schemeClr val="tx1"/>
          </a:solidFill>
          <a:latin typeface="+mn-lt"/>
          <a:ea typeface="+mn-ea"/>
          <a:cs typeface="+mn-cs"/>
        </a:defRPr>
      </a:lvl3pPr>
      <a:lvl4pPr marL="592120" algn="l" defTabSz="197373" rtl="0" eaLnBrk="1" latinLnBrk="0" hangingPunct="1">
        <a:defRPr sz="777" kern="1200">
          <a:solidFill>
            <a:schemeClr val="tx1"/>
          </a:solidFill>
          <a:latin typeface="+mn-lt"/>
          <a:ea typeface="+mn-ea"/>
          <a:cs typeface="+mn-cs"/>
        </a:defRPr>
      </a:lvl4pPr>
      <a:lvl5pPr marL="789493" algn="l" defTabSz="197373" rtl="0" eaLnBrk="1" latinLnBrk="0" hangingPunct="1">
        <a:defRPr sz="777" kern="1200">
          <a:solidFill>
            <a:schemeClr val="tx1"/>
          </a:solidFill>
          <a:latin typeface="+mn-lt"/>
          <a:ea typeface="+mn-ea"/>
          <a:cs typeface="+mn-cs"/>
        </a:defRPr>
      </a:lvl5pPr>
      <a:lvl6pPr marL="986866" algn="l" defTabSz="197373" rtl="0" eaLnBrk="1" latinLnBrk="0" hangingPunct="1">
        <a:defRPr sz="777" kern="1200">
          <a:solidFill>
            <a:schemeClr val="tx1"/>
          </a:solidFill>
          <a:latin typeface="+mn-lt"/>
          <a:ea typeface="+mn-ea"/>
          <a:cs typeface="+mn-cs"/>
        </a:defRPr>
      </a:lvl6pPr>
      <a:lvl7pPr marL="1184239" algn="l" defTabSz="197373" rtl="0" eaLnBrk="1" latinLnBrk="0" hangingPunct="1">
        <a:defRPr sz="777" kern="1200">
          <a:solidFill>
            <a:schemeClr val="tx1"/>
          </a:solidFill>
          <a:latin typeface="+mn-lt"/>
          <a:ea typeface="+mn-ea"/>
          <a:cs typeface="+mn-cs"/>
        </a:defRPr>
      </a:lvl7pPr>
      <a:lvl8pPr marL="1381613" algn="l" defTabSz="197373" rtl="0" eaLnBrk="1" latinLnBrk="0" hangingPunct="1">
        <a:defRPr sz="777" kern="1200">
          <a:solidFill>
            <a:schemeClr val="tx1"/>
          </a:solidFill>
          <a:latin typeface="+mn-lt"/>
          <a:ea typeface="+mn-ea"/>
          <a:cs typeface="+mn-cs"/>
        </a:defRPr>
      </a:lvl8pPr>
      <a:lvl9pPr marL="1578986" algn="l" defTabSz="197373" rtl="0" eaLnBrk="1" latinLnBrk="0" hangingPunct="1">
        <a:defRPr sz="77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47BF1-B699-7147-D4AF-5B783BF0ACFD}"/>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D50CD799-B7B0-2B1C-F0BC-3742D99A7453}"/>
              </a:ext>
            </a:extLst>
          </p:cNvPr>
          <p:cNvGrpSpPr/>
          <p:nvPr/>
        </p:nvGrpSpPr>
        <p:grpSpPr>
          <a:xfrm>
            <a:off x="155238" y="2793372"/>
            <a:ext cx="5058901" cy="3692133"/>
            <a:chOff x="3637437" y="4099746"/>
            <a:chExt cx="3458109" cy="2244747"/>
          </a:xfrm>
        </p:grpSpPr>
        <p:sp>
          <p:nvSpPr>
            <p:cNvPr id="16" name="Rounded Rectangle 15">
              <a:extLst>
                <a:ext uri="{FF2B5EF4-FFF2-40B4-BE49-F238E27FC236}">
                  <a16:creationId xmlns:a16="http://schemas.microsoft.com/office/drawing/2014/main" id="{65A39595-4632-BF8E-52DC-9DC3C7997C73}"/>
                </a:ext>
              </a:extLst>
            </p:cNvPr>
            <p:cNvSpPr/>
            <p:nvPr/>
          </p:nvSpPr>
          <p:spPr>
            <a:xfrm>
              <a:off x="3637437" y="4099746"/>
              <a:ext cx="3450200" cy="2244747"/>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7" name="TextBox 16">
              <a:extLst>
                <a:ext uri="{FF2B5EF4-FFF2-40B4-BE49-F238E27FC236}">
                  <a16:creationId xmlns:a16="http://schemas.microsoft.com/office/drawing/2014/main" id="{666991A0-9B59-E015-9955-EDD8A618F45E}"/>
                </a:ext>
              </a:extLst>
            </p:cNvPr>
            <p:cNvSpPr txBox="1"/>
            <p:nvPr/>
          </p:nvSpPr>
          <p:spPr>
            <a:xfrm>
              <a:off x="3761106" y="4196400"/>
              <a:ext cx="3334440" cy="2123838"/>
            </a:xfrm>
            <a:prstGeom prst="rect">
              <a:avLst/>
            </a:prstGeom>
            <a:noFill/>
          </p:spPr>
          <p:txBody>
            <a:bodyPr wrap="square" lIns="19736" rIns="19736" anchor="t">
              <a:spAutoFit/>
            </a:bodyPr>
            <a:lstStyle/>
            <a:p>
              <a:pPr algn="l"/>
              <a:r>
                <a:rPr lang="en-US" sz="1700" dirty="0">
                  <a:latin typeface="Aptos"/>
                </a:rPr>
                <a:t>Stock price prediction is challenging due to the complex, noisy, and non-stationary nature of financial markets. While traditional models rely on historical prices and technical indicators, recent advances in Large Language Models (LLMs) enable the extraction of structured, actionable information from unstructured sources.
We introduce a three-stage framework that separates news-driven prediction from price-driven prediction and later corrects residual errors using features of news signals, technical indicators, and historical prediction errors.</a:t>
              </a:r>
            </a:p>
          </p:txBody>
        </p:sp>
      </p:grpSp>
      <p:grpSp>
        <p:nvGrpSpPr>
          <p:cNvPr id="10" name="Group 9">
            <a:extLst>
              <a:ext uri="{FF2B5EF4-FFF2-40B4-BE49-F238E27FC236}">
                <a16:creationId xmlns:a16="http://schemas.microsoft.com/office/drawing/2014/main" id="{1CCF5F5E-56F8-24E8-760E-596FFCA2F7D8}"/>
              </a:ext>
            </a:extLst>
          </p:cNvPr>
          <p:cNvGrpSpPr/>
          <p:nvPr/>
        </p:nvGrpSpPr>
        <p:grpSpPr>
          <a:xfrm>
            <a:off x="143036" y="7292789"/>
            <a:ext cx="5016456" cy="2563330"/>
            <a:chOff x="3576698" y="9757005"/>
            <a:chExt cx="3059035" cy="1691065"/>
          </a:xfrm>
        </p:grpSpPr>
        <p:sp>
          <p:nvSpPr>
            <p:cNvPr id="24" name="Rounded Rectangle 23">
              <a:extLst>
                <a:ext uri="{FF2B5EF4-FFF2-40B4-BE49-F238E27FC236}">
                  <a16:creationId xmlns:a16="http://schemas.microsoft.com/office/drawing/2014/main" id="{B5F329D8-7AAF-BE9B-2715-0A504FBDB68E}"/>
                </a:ext>
              </a:extLst>
            </p:cNvPr>
            <p:cNvSpPr/>
            <p:nvPr/>
          </p:nvSpPr>
          <p:spPr>
            <a:xfrm>
              <a:off x="3576698" y="9757005"/>
              <a:ext cx="3059035" cy="1691065"/>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25" name="TextBox 24">
              <a:extLst>
                <a:ext uri="{FF2B5EF4-FFF2-40B4-BE49-F238E27FC236}">
                  <a16:creationId xmlns:a16="http://schemas.microsoft.com/office/drawing/2014/main" id="{70518494-0540-9899-450C-F3891F90FF7D}"/>
                </a:ext>
              </a:extLst>
            </p:cNvPr>
            <p:cNvSpPr txBox="1"/>
            <p:nvPr/>
          </p:nvSpPr>
          <p:spPr>
            <a:xfrm>
              <a:off x="3684802" y="9782922"/>
              <a:ext cx="2901150" cy="1665148"/>
            </a:xfrm>
            <a:prstGeom prst="rect">
              <a:avLst/>
            </a:prstGeom>
            <a:noFill/>
          </p:spPr>
          <p:txBody>
            <a:bodyPr wrap="square" lIns="19736" tIns="7894" rIns="7894">
              <a:spAutoFit/>
            </a:bodyPr>
            <a:lstStyle/>
            <a:p>
              <a:pPr>
                <a:spcAft>
                  <a:spcPts val="302"/>
                </a:spcAft>
                <a:defRPr sz="1130">
                  <a:solidFill>
                    <a:srgbClr val="14191E"/>
                  </a:solidFill>
                  <a:latin typeface="Aptos"/>
                </a:defRPr>
              </a:pPr>
              <a:r>
                <a:rPr sz="1700" dirty="0"/>
                <a:t>• </a:t>
              </a:r>
              <a:r>
                <a:rPr sz="1700" b="1" dirty="0"/>
                <a:t>Asset: </a:t>
              </a:r>
              <a:r>
                <a:rPr sz="1700" dirty="0"/>
                <a:t>Apple Inc. (AAPL)</a:t>
              </a:r>
            </a:p>
            <a:p>
              <a:pPr>
                <a:spcAft>
                  <a:spcPts val="200"/>
                </a:spcAft>
                <a:defRPr sz="1130">
                  <a:solidFill>
                    <a:srgbClr val="14191E"/>
                  </a:solidFill>
                  <a:latin typeface="Aptos"/>
                </a:defRPr>
              </a:pPr>
              <a:r>
                <a:rPr sz="1700" dirty="0"/>
                <a:t>• </a:t>
              </a:r>
              <a:r>
                <a:rPr sz="1700" b="1" dirty="0"/>
                <a:t>News Source: </a:t>
              </a:r>
              <a:r>
                <a:rPr sz="1700" dirty="0"/>
                <a:t>Financial news (AAPL-filtered CSV)</a:t>
              </a:r>
            </a:p>
            <a:p>
              <a:pPr>
                <a:spcAft>
                  <a:spcPts val="200"/>
                </a:spcAft>
                <a:defRPr sz="1130">
                  <a:solidFill>
                    <a:srgbClr val="14191E"/>
                  </a:solidFill>
                  <a:latin typeface="Aptos"/>
                </a:defRPr>
              </a:pPr>
              <a:r>
                <a:rPr sz="1700" dirty="0"/>
                <a:t>• </a:t>
              </a:r>
              <a:r>
                <a:rPr sz="1700" b="1" dirty="0"/>
                <a:t>Price Data: </a:t>
              </a:r>
              <a:r>
                <a:rPr sz="1700" dirty="0"/>
                <a:t>Daily OHLC, Yahoo Finance (2010–26, ~4,150 days)</a:t>
              </a:r>
            </a:p>
            <a:p>
              <a:pPr>
                <a:spcAft>
                  <a:spcPts val="200"/>
                </a:spcAft>
                <a:defRPr sz="1130">
                  <a:solidFill>
                    <a:srgbClr val="14191E"/>
                  </a:solidFill>
                  <a:latin typeface="Aptos"/>
                </a:defRPr>
              </a:pPr>
              <a:r>
                <a:rPr sz="1700" dirty="0"/>
                <a:t>• </a:t>
              </a:r>
              <a:r>
                <a:rPr sz="1700" b="1" dirty="0"/>
                <a:t>Preprocessing: </a:t>
              </a:r>
              <a:r>
                <a:rPr sz="1700" dirty="0"/>
                <a:t>Coif3 wavelet, 20-day window, 60/15/25 split (~4,130 samples)</a:t>
              </a:r>
            </a:p>
            <a:p>
              <a:pPr>
                <a:spcAft>
                  <a:spcPts val="200"/>
                </a:spcAft>
                <a:defRPr sz="1130">
                  <a:solidFill>
                    <a:srgbClr val="14191E"/>
                  </a:solidFill>
                  <a:latin typeface="Aptos"/>
                </a:defRPr>
              </a:pPr>
              <a:r>
                <a:rPr sz="1700" dirty="0"/>
                <a:t>• </a:t>
              </a:r>
              <a:r>
                <a:rPr sz="1700" b="1" dirty="0"/>
                <a:t>Test Window: </a:t>
              </a:r>
              <a:r>
                <a:rPr sz="1700" dirty="0"/>
                <a:t>121 days, out-of-sample (Jan–Jun 2025)</a:t>
              </a:r>
            </a:p>
          </p:txBody>
        </p:sp>
      </p:grpSp>
      <p:sp>
        <p:nvSpPr>
          <p:cNvPr id="86" name="TextBox 85">
            <a:extLst>
              <a:ext uri="{FF2B5EF4-FFF2-40B4-BE49-F238E27FC236}">
                <a16:creationId xmlns:a16="http://schemas.microsoft.com/office/drawing/2014/main" id="{DC8055BB-DEDC-F339-36F2-DFAFBB205FDE}"/>
              </a:ext>
            </a:extLst>
          </p:cNvPr>
          <p:cNvSpPr txBox="1"/>
          <p:nvPr/>
        </p:nvSpPr>
        <p:spPr>
          <a:xfrm>
            <a:off x="9221911" y="5277329"/>
            <a:ext cx="197357" cy="258404"/>
          </a:xfrm>
          <a:prstGeom prst="rect">
            <a:avLst/>
          </a:prstGeom>
          <a:noFill/>
        </p:spPr>
        <p:txBody>
          <a:bodyPr wrap="square" lIns="19736" rIns="19736" anchor="t">
            <a:spAutoFit/>
          </a:bodyPr>
          <a:lstStyle/>
          <a:p>
            <a:pPr algn="ctr"/>
            <a:r>
              <a:rPr sz="1079" b="1">
                <a:solidFill>
                  <a:srgbClr val="072349"/>
                </a:solidFill>
                <a:latin typeface="Aptos"/>
              </a:rPr>
              <a:t>➜</a:t>
            </a:r>
          </a:p>
        </p:txBody>
      </p:sp>
      <p:sp>
        <p:nvSpPr>
          <p:cNvPr id="87" name="TextBox 86">
            <a:extLst>
              <a:ext uri="{FF2B5EF4-FFF2-40B4-BE49-F238E27FC236}">
                <a16:creationId xmlns:a16="http://schemas.microsoft.com/office/drawing/2014/main" id="{4703A564-2EFB-6531-B739-69F447DF6EB5}"/>
              </a:ext>
            </a:extLst>
          </p:cNvPr>
          <p:cNvSpPr txBox="1"/>
          <p:nvPr/>
        </p:nvSpPr>
        <p:spPr>
          <a:xfrm>
            <a:off x="11570461" y="5277329"/>
            <a:ext cx="197357" cy="258404"/>
          </a:xfrm>
          <a:prstGeom prst="rect">
            <a:avLst/>
          </a:prstGeom>
          <a:noFill/>
        </p:spPr>
        <p:txBody>
          <a:bodyPr wrap="square" lIns="19736" rIns="19736" anchor="t">
            <a:spAutoFit/>
          </a:bodyPr>
          <a:lstStyle/>
          <a:p>
            <a:pPr algn="ctr"/>
            <a:r>
              <a:rPr sz="1079" b="1">
                <a:solidFill>
                  <a:srgbClr val="072349"/>
                </a:solidFill>
                <a:latin typeface="Aptos"/>
              </a:rPr>
              <a:t>➜</a:t>
            </a:r>
          </a:p>
        </p:txBody>
      </p:sp>
      <p:grpSp>
        <p:nvGrpSpPr>
          <p:cNvPr id="75" name="Group 74">
            <a:extLst>
              <a:ext uri="{FF2B5EF4-FFF2-40B4-BE49-F238E27FC236}">
                <a16:creationId xmlns:a16="http://schemas.microsoft.com/office/drawing/2014/main" id="{1DBC9F82-3639-6F3E-6FBC-6A33531A1D16}"/>
              </a:ext>
            </a:extLst>
          </p:cNvPr>
          <p:cNvGrpSpPr/>
          <p:nvPr/>
        </p:nvGrpSpPr>
        <p:grpSpPr>
          <a:xfrm>
            <a:off x="5612433" y="9548006"/>
            <a:ext cx="10129137" cy="4656174"/>
            <a:chOff x="6903779" y="9044677"/>
            <a:chExt cx="3495048" cy="2232516"/>
          </a:xfrm>
        </p:grpSpPr>
        <p:sp>
          <p:nvSpPr>
            <p:cNvPr id="90" name="Rounded Rectangle 89">
              <a:extLst>
                <a:ext uri="{FF2B5EF4-FFF2-40B4-BE49-F238E27FC236}">
                  <a16:creationId xmlns:a16="http://schemas.microsoft.com/office/drawing/2014/main" id="{7BCAC45A-5D26-C887-B43B-ECAA0D0835EC}"/>
                </a:ext>
              </a:extLst>
            </p:cNvPr>
            <p:cNvSpPr/>
            <p:nvPr/>
          </p:nvSpPr>
          <p:spPr>
            <a:xfrm>
              <a:off x="6903779" y="9044677"/>
              <a:ext cx="3495048" cy="2164932"/>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91" name="TextBox 90">
              <a:extLst>
                <a:ext uri="{FF2B5EF4-FFF2-40B4-BE49-F238E27FC236}">
                  <a16:creationId xmlns:a16="http://schemas.microsoft.com/office/drawing/2014/main" id="{4C2242C3-1CBB-D2BE-F634-0541B9287425}"/>
                </a:ext>
              </a:extLst>
            </p:cNvPr>
            <p:cNvSpPr txBox="1"/>
            <p:nvPr/>
          </p:nvSpPr>
          <p:spPr>
            <a:xfrm>
              <a:off x="7005230" y="9118835"/>
              <a:ext cx="1515801" cy="2158358"/>
            </a:xfrm>
            <a:prstGeom prst="rect">
              <a:avLst/>
            </a:prstGeom>
            <a:noFill/>
          </p:spPr>
          <p:txBody>
            <a:bodyPr wrap="square" lIns="19736" tIns="7894" rIns="7894">
              <a:spAutoFit/>
            </a:bodyPr>
            <a:lstStyle/>
            <a:p>
              <a:r>
                <a:rPr lang="en-US" sz="1700" b="1" dirty="0"/>
                <a:t>1. LLM-Based Financial News Intelligence</a:t>
              </a:r>
              <a:br>
                <a:rPr lang="en-US" sz="1700" dirty="0"/>
              </a:br>
              <a:r>
                <a:rPr lang="en-US" sz="1700" dirty="0"/>
                <a:t>• Collect and filter AAPL-related financial news.</a:t>
              </a:r>
              <a:br>
                <a:rPr lang="en-US" sz="1700" dirty="0"/>
              </a:br>
              <a:r>
                <a:rPr lang="en-US" sz="1700" dirty="0"/>
                <a:t>• Extract </a:t>
              </a:r>
              <a:r>
                <a:rPr lang="en-US" sz="1700" b="1" dirty="0"/>
                <a:t>sentiment, event type, severity, affected product, and impact score</a:t>
              </a:r>
              <a:r>
                <a:rPr lang="en-US" sz="1700" dirty="0"/>
                <a:t> using Llama-3.1-8B-Instant.</a:t>
              </a:r>
              <a:br>
                <a:rPr lang="en-US" sz="1700" dirty="0"/>
              </a:br>
              <a:r>
                <a:rPr lang="en-US" sz="1700" dirty="0"/>
                <a:t>• Generate sentence embeddings using </a:t>
              </a:r>
              <a:r>
                <a:rPr lang="en-US" sz="1700" b="1" dirty="0"/>
                <a:t>all-MiniLM-L6-v2</a:t>
              </a:r>
              <a:r>
                <a:rPr lang="en-US" sz="1700" dirty="0"/>
                <a:t> and store news with metadata in </a:t>
              </a:r>
              <a:r>
                <a:rPr lang="en-US" sz="1700" b="1" dirty="0" err="1"/>
                <a:t>ChromaDB</a:t>
              </a:r>
              <a:r>
                <a:rPr lang="en-US" sz="1700" dirty="0"/>
                <a:t> for semantic retrieval.</a:t>
              </a:r>
              <a:br>
                <a:rPr lang="en-US" sz="1700" dirty="0"/>
              </a:br>
              <a:r>
                <a:rPr lang="en-US" sz="1700" b="1" dirty="0"/>
                <a:t>2. Ensemble Time-Series Forecasting</a:t>
              </a:r>
              <a:br>
                <a:rPr lang="en-US" sz="1700" dirty="0"/>
              </a:br>
              <a:r>
                <a:rPr lang="en-US" sz="1700" dirty="0"/>
                <a:t>• Collect historical AAPL </a:t>
              </a:r>
              <a:r>
                <a:rPr lang="en-US" sz="1700" b="1" dirty="0"/>
                <a:t>OHLC</a:t>
              </a:r>
              <a:r>
                <a:rPr lang="en-US" sz="1700" dirty="0"/>
                <a:t> data and construct 20-day sliding windows.</a:t>
              </a:r>
              <a:br>
                <a:rPr lang="en-US" sz="1700" dirty="0"/>
              </a:br>
              <a:r>
                <a:rPr lang="en-US" sz="1700" dirty="0"/>
                <a:t>• Train </a:t>
              </a:r>
              <a:r>
                <a:rPr lang="en-US" sz="1700" b="1" dirty="0"/>
                <a:t>LSTM</a:t>
              </a:r>
              <a:r>
                <a:rPr lang="en-US" sz="1700" dirty="0"/>
                <a:t> and </a:t>
              </a:r>
              <a:r>
                <a:rPr lang="en-US" sz="1700" b="1" dirty="0"/>
                <a:t>1D-CNN</a:t>
              </a:r>
              <a:r>
                <a:rPr lang="en-US" sz="1700" dirty="0"/>
                <a:t> models on raw/denoised price sequences.</a:t>
              </a:r>
              <a:br>
                <a:rPr lang="en-US" sz="1700" dirty="0"/>
              </a:br>
              <a:r>
                <a:rPr lang="en-US" sz="1700" dirty="0"/>
                <a:t>• Combine base-model predictions using </a:t>
              </a:r>
              <a:r>
                <a:rPr lang="en-US" sz="1700" b="1" dirty="0"/>
                <a:t>stacking with Linear Regression</a:t>
              </a:r>
              <a:r>
                <a:rPr lang="en-US" sz="1700" dirty="0"/>
                <a:t> to obtain the Stage-2 forecast.</a:t>
              </a:r>
              <a:br>
                <a:rPr lang="en-US" sz="1700" dirty="0"/>
              </a:br>
              <a:endParaRPr lang="en-US" sz="1700" dirty="0"/>
            </a:p>
          </p:txBody>
        </p:sp>
      </p:grpSp>
      <p:sp>
        <p:nvSpPr>
          <p:cNvPr id="93" name="TextBox 92">
            <a:extLst>
              <a:ext uri="{FF2B5EF4-FFF2-40B4-BE49-F238E27FC236}">
                <a16:creationId xmlns:a16="http://schemas.microsoft.com/office/drawing/2014/main" id="{BD92333D-D219-D8AA-0CF4-991F310D04CF}"/>
              </a:ext>
            </a:extLst>
          </p:cNvPr>
          <p:cNvSpPr txBox="1"/>
          <p:nvPr/>
        </p:nvSpPr>
        <p:spPr>
          <a:xfrm>
            <a:off x="10638935" y="8782421"/>
            <a:ext cx="3396516" cy="205313"/>
          </a:xfrm>
          <a:prstGeom prst="rect">
            <a:avLst/>
          </a:prstGeom>
          <a:noFill/>
        </p:spPr>
        <p:txBody>
          <a:bodyPr wrap="square" lIns="19736" rIns="19736" anchor="ctr">
            <a:spAutoFit/>
          </a:bodyPr>
          <a:lstStyle/>
          <a:p>
            <a:pPr algn="l"/>
            <a:r>
              <a:rPr sz="734" b="1" dirty="0">
                <a:solidFill>
                  <a:srgbClr val="FFFFFF"/>
                </a:solidFill>
                <a:latin typeface="Aptos"/>
              </a:rPr>
              <a:t>3. MODELS USED</a:t>
            </a:r>
          </a:p>
        </p:txBody>
      </p:sp>
      <p:grpSp>
        <p:nvGrpSpPr>
          <p:cNvPr id="76" name="Group 75">
            <a:extLst>
              <a:ext uri="{FF2B5EF4-FFF2-40B4-BE49-F238E27FC236}">
                <a16:creationId xmlns:a16="http://schemas.microsoft.com/office/drawing/2014/main" id="{F3E3D5E3-5845-6359-4200-5E563AF2875A}"/>
              </a:ext>
            </a:extLst>
          </p:cNvPr>
          <p:cNvGrpSpPr/>
          <p:nvPr/>
        </p:nvGrpSpPr>
        <p:grpSpPr>
          <a:xfrm>
            <a:off x="155238" y="10680731"/>
            <a:ext cx="4861879" cy="3253420"/>
            <a:chOff x="10467233" y="9148317"/>
            <a:chExt cx="3522824" cy="2230643"/>
          </a:xfrm>
        </p:grpSpPr>
        <p:sp>
          <p:nvSpPr>
            <p:cNvPr id="94" name="Rounded Rectangle 93">
              <a:extLst>
                <a:ext uri="{FF2B5EF4-FFF2-40B4-BE49-F238E27FC236}">
                  <a16:creationId xmlns:a16="http://schemas.microsoft.com/office/drawing/2014/main" id="{4107DE01-8566-2CDE-7976-4305FFF5E044}"/>
                </a:ext>
              </a:extLst>
            </p:cNvPr>
            <p:cNvSpPr/>
            <p:nvPr/>
          </p:nvSpPr>
          <p:spPr>
            <a:xfrm>
              <a:off x="10467233" y="9148317"/>
              <a:ext cx="3522824" cy="2230643"/>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95" name="TextBox 94">
              <a:extLst>
                <a:ext uri="{FF2B5EF4-FFF2-40B4-BE49-F238E27FC236}">
                  <a16:creationId xmlns:a16="http://schemas.microsoft.com/office/drawing/2014/main" id="{1CA6BB42-4240-F8E0-C510-6313364DF5B6}"/>
                </a:ext>
              </a:extLst>
            </p:cNvPr>
            <p:cNvSpPr txBox="1"/>
            <p:nvPr/>
          </p:nvSpPr>
          <p:spPr>
            <a:xfrm>
              <a:off x="10598322" y="9263286"/>
              <a:ext cx="3227465" cy="2115674"/>
            </a:xfrm>
            <a:prstGeom prst="rect">
              <a:avLst/>
            </a:prstGeom>
            <a:noFill/>
          </p:spPr>
          <p:txBody>
            <a:bodyPr wrap="square" lIns="19736" tIns="7894" rIns="7894">
              <a:spAutoFit/>
            </a:bodyPr>
            <a:lstStyle/>
            <a:p>
              <a:pPr>
                <a:spcAft>
                  <a:spcPts val="345"/>
                </a:spcAft>
                <a:defRPr sz="1070">
                  <a:solidFill>
                    <a:srgbClr val="14191E"/>
                  </a:solidFill>
                  <a:latin typeface="Aptos"/>
                </a:defRPr>
              </a:pPr>
              <a:r>
                <a:rPr sz="1700" dirty="0"/>
                <a:t>• </a:t>
              </a:r>
              <a:r>
                <a:rPr sz="1700" b="1" dirty="0"/>
                <a:t>LLM: </a:t>
              </a:r>
              <a:r>
                <a:rPr sz="1700" dirty="0"/>
                <a:t>Llama-3.1-8B-Instant (Groq API) — event type, severity, product extraction</a:t>
              </a:r>
            </a:p>
            <a:p>
              <a:pPr>
                <a:spcAft>
                  <a:spcPts val="345"/>
                </a:spcAft>
                <a:defRPr sz="1070">
                  <a:solidFill>
                    <a:srgbClr val="14191E"/>
                  </a:solidFill>
                  <a:latin typeface="Aptos"/>
                </a:defRPr>
              </a:pPr>
              <a:r>
                <a:rPr sz="1700" dirty="0"/>
                <a:t>• </a:t>
              </a:r>
              <a:r>
                <a:rPr sz="1700" b="1" dirty="0"/>
                <a:t>Embeddings: </a:t>
              </a:r>
              <a:r>
                <a:rPr sz="1700" dirty="0"/>
                <a:t>all-MiniLM-L6-v2 → ChromaDB (cosine similarity)</a:t>
              </a:r>
            </a:p>
            <a:p>
              <a:pPr>
                <a:spcAft>
                  <a:spcPts val="345"/>
                </a:spcAft>
                <a:defRPr sz="1070">
                  <a:solidFill>
                    <a:srgbClr val="14191E"/>
                  </a:solidFill>
                  <a:latin typeface="Aptos"/>
                </a:defRPr>
              </a:pPr>
              <a:r>
                <a:rPr sz="1700" dirty="0"/>
                <a:t>• </a:t>
              </a:r>
              <a:r>
                <a:rPr sz="1700" b="1" dirty="0"/>
                <a:t>Deep Learning: </a:t>
              </a:r>
              <a:r>
                <a:rPr sz="1700" dirty="0"/>
                <a:t>LSTM &amp; CNN (raw/denoised); ensemble = LSTM-Raw + CNN-Denoised</a:t>
              </a:r>
            </a:p>
            <a:p>
              <a:pPr>
                <a:spcAft>
                  <a:spcPts val="345"/>
                </a:spcAft>
                <a:defRPr sz="1070">
                  <a:solidFill>
                    <a:srgbClr val="14191E"/>
                  </a:solidFill>
                  <a:latin typeface="Aptos"/>
                </a:defRPr>
              </a:pPr>
              <a:r>
                <a:rPr sz="1700" dirty="0"/>
                <a:t>• </a:t>
              </a:r>
              <a:r>
                <a:rPr sz="1700" b="1" dirty="0"/>
                <a:t>Regression Benchmark: </a:t>
              </a:r>
              <a:r>
                <a:rPr sz="1700" dirty="0"/>
                <a:t>7 candidates — Linear, Random Forest, Gradient Boosting, Extra Trees, Hist-GB, k-NN, </a:t>
              </a:r>
              <a:r>
                <a:rPr sz="1700" dirty="0" err="1"/>
                <a:t>XGBoost</a:t>
              </a:r>
            </a:p>
            <a:p>
              <a:pPr>
                <a:spcAft>
                  <a:spcPts val="345"/>
                </a:spcAft>
                <a:defRPr sz="1070">
                  <a:solidFill>
                    <a:srgbClr val="14191E"/>
                  </a:solidFill>
                  <a:latin typeface="Aptos"/>
                </a:defRPr>
              </a:pPr>
              <a:r>
                <a:rPr sz="1700" dirty="0"/>
                <a:t>• </a:t>
              </a:r>
              <a:r>
                <a:rPr sz="1700" b="1" dirty="0"/>
                <a:t>Final Model: </a:t>
              </a:r>
              <a:r>
                <a:rPr sz="1700" dirty="0"/>
                <a:t>Random Forest — best of 7 (test R² = 0.70 on residual task)</a:t>
              </a:r>
            </a:p>
          </p:txBody>
        </p:sp>
      </p:grpSp>
      <p:grpSp>
        <p:nvGrpSpPr>
          <p:cNvPr id="37" name="Group 36">
            <a:extLst>
              <a:ext uri="{FF2B5EF4-FFF2-40B4-BE49-F238E27FC236}">
                <a16:creationId xmlns:a16="http://schemas.microsoft.com/office/drawing/2014/main" id="{DEA29C28-6564-415D-50EF-E87F144CDA47}"/>
              </a:ext>
            </a:extLst>
          </p:cNvPr>
          <p:cNvGrpSpPr/>
          <p:nvPr/>
        </p:nvGrpSpPr>
        <p:grpSpPr>
          <a:xfrm>
            <a:off x="5820962" y="2214470"/>
            <a:ext cx="15412188" cy="442229"/>
            <a:chOff x="7375074" y="3805363"/>
            <a:chExt cx="10285825" cy="128922"/>
          </a:xfrm>
        </p:grpSpPr>
        <p:sp>
          <p:nvSpPr>
            <p:cNvPr id="28" name="TextBox 27">
              <a:extLst>
                <a:ext uri="{FF2B5EF4-FFF2-40B4-BE49-F238E27FC236}">
                  <a16:creationId xmlns:a16="http://schemas.microsoft.com/office/drawing/2014/main" id="{1E2E609B-B94A-5C6F-275B-868DF1BF50D0}"/>
                </a:ext>
              </a:extLst>
            </p:cNvPr>
            <p:cNvSpPr txBox="1"/>
            <p:nvPr/>
          </p:nvSpPr>
          <p:spPr>
            <a:xfrm>
              <a:off x="7375074" y="3805363"/>
              <a:ext cx="4305190" cy="125616"/>
            </a:xfrm>
            <a:prstGeom prst="rect">
              <a:avLst/>
            </a:prstGeom>
            <a:noFill/>
          </p:spPr>
          <p:txBody>
            <a:bodyPr wrap="square" lIns="19736" rIns="19736" anchor="ctr">
              <a:spAutoFit/>
            </a:bodyPr>
            <a:lstStyle/>
            <a:p>
              <a:pPr algn="l"/>
              <a:r>
                <a:rPr sz="2200" b="1" dirty="0">
                  <a:solidFill>
                    <a:srgbClr val="FFFFFF"/>
                  </a:solidFill>
                  <a:latin typeface="Aptos"/>
                </a:rPr>
                <a:t>THREE-STAGE ARCHITECTURE OVERVIEW</a:t>
              </a:r>
            </a:p>
          </p:txBody>
        </p:sp>
        <p:sp>
          <p:nvSpPr>
            <p:cNvPr id="97" name="TextBox 96">
              <a:extLst>
                <a:ext uri="{FF2B5EF4-FFF2-40B4-BE49-F238E27FC236}">
                  <a16:creationId xmlns:a16="http://schemas.microsoft.com/office/drawing/2014/main" id="{6A56F5D8-EFAC-9EDD-37E8-30E4D8B487C0}"/>
                </a:ext>
              </a:extLst>
            </p:cNvPr>
            <p:cNvSpPr txBox="1"/>
            <p:nvPr/>
          </p:nvSpPr>
          <p:spPr>
            <a:xfrm>
              <a:off x="14211096" y="3808669"/>
              <a:ext cx="3449803" cy="125616"/>
            </a:xfrm>
            <a:prstGeom prst="rect">
              <a:avLst/>
            </a:prstGeom>
            <a:noFill/>
          </p:spPr>
          <p:txBody>
            <a:bodyPr wrap="square" lIns="19736" rIns="19736" anchor="ctr">
              <a:spAutoFit/>
            </a:bodyPr>
            <a:lstStyle/>
            <a:p>
              <a:pPr algn="l"/>
              <a:r>
                <a:rPr sz="2200" b="1" dirty="0">
                  <a:solidFill>
                    <a:srgbClr val="FFFFFF"/>
                  </a:solidFill>
                  <a:latin typeface="Aptos"/>
                </a:rPr>
                <a:t>RESULTS </a:t>
              </a:r>
            </a:p>
          </p:txBody>
        </p:sp>
      </p:grpSp>
      <p:grpSp>
        <p:nvGrpSpPr>
          <p:cNvPr id="51" name="Group 50">
            <a:extLst>
              <a:ext uri="{FF2B5EF4-FFF2-40B4-BE49-F238E27FC236}">
                <a16:creationId xmlns:a16="http://schemas.microsoft.com/office/drawing/2014/main" id="{BBD53815-4375-19B5-44AE-B5C2AAFF9A0C}"/>
              </a:ext>
            </a:extLst>
          </p:cNvPr>
          <p:cNvGrpSpPr/>
          <p:nvPr/>
        </p:nvGrpSpPr>
        <p:grpSpPr>
          <a:xfrm>
            <a:off x="16144656" y="2878945"/>
            <a:ext cx="5061390" cy="2339253"/>
            <a:chOff x="14109605" y="4018916"/>
            <a:chExt cx="3551296" cy="1769215"/>
          </a:xfrm>
        </p:grpSpPr>
        <p:sp>
          <p:nvSpPr>
            <p:cNvPr id="98" name="Rounded Rectangle 97">
              <a:extLst>
                <a:ext uri="{FF2B5EF4-FFF2-40B4-BE49-F238E27FC236}">
                  <a16:creationId xmlns:a16="http://schemas.microsoft.com/office/drawing/2014/main" id="{E1ED2568-BEE5-E93E-0ECE-5E978EFCA687}"/>
                </a:ext>
              </a:extLst>
            </p:cNvPr>
            <p:cNvSpPr/>
            <p:nvPr/>
          </p:nvSpPr>
          <p:spPr>
            <a:xfrm>
              <a:off x="14109605" y="4018916"/>
              <a:ext cx="3551296" cy="1769215"/>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99" name="Rectangle 98">
              <a:extLst>
                <a:ext uri="{FF2B5EF4-FFF2-40B4-BE49-F238E27FC236}">
                  <a16:creationId xmlns:a16="http://schemas.microsoft.com/office/drawing/2014/main" id="{B68F4334-4719-8ABE-B789-B5E290D433A3}"/>
                </a:ext>
              </a:extLst>
            </p:cNvPr>
            <p:cNvSpPr/>
            <p:nvPr/>
          </p:nvSpPr>
          <p:spPr>
            <a:xfrm>
              <a:off x="14234781" y="4144499"/>
              <a:ext cx="927578" cy="284194"/>
            </a:xfrm>
            <a:prstGeom prst="rect">
              <a:avLst/>
            </a:prstGeom>
            <a:solidFill>
              <a:srgbClr val="EDF5FD"/>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00" name="TextBox 99">
              <a:extLst>
                <a:ext uri="{FF2B5EF4-FFF2-40B4-BE49-F238E27FC236}">
                  <a16:creationId xmlns:a16="http://schemas.microsoft.com/office/drawing/2014/main" id="{5EDDE276-8899-4144-770F-AE688A4B9720}"/>
                </a:ext>
              </a:extLst>
            </p:cNvPr>
            <p:cNvSpPr txBox="1"/>
            <p:nvPr/>
          </p:nvSpPr>
          <p:spPr>
            <a:xfrm>
              <a:off x="14246622" y="4193489"/>
              <a:ext cx="903896" cy="186221"/>
            </a:xfrm>
            <a:prstGeom prst="rect">
              <a:avLst/>
            </a:prstGeom>
            <a:noFill/>
          </p:spPr>
          <p:txBody>
            <a:bodyPr wrap="square" lIns="19736" rIns="19736" anchor="ctr">
              <a:spAutoFit/>
            </a:bodyPr>
            <a:lstStyle/>
            <a:p>
              <a:pPr algn="ctr"/>
              <a:r>
                <a:rPr sz="1000" b="1" dirty="0">
                  <a:solidFill>
                    <a:srgbClr val="14191E"/>
                  </a:solidFill>
                  <a:latin typeface="Aptos"/>
                </a:rPr>
                <a:t>Metric</a:t>
              </a:r>
              <a:endParaRPr sz="436" b="1" dirty="0">
                <a:solidFill>
                  <a:srgbClr val="14191E"/>
                </a:solidFill>
                <a:latin typeface="Aptos"/>
              </a:endParaRPr>
            </a:p>
          </p:txBody>
        </p:sp>
        <p:sp>
          <p:nvSpPr>
            <p:cNvPr id="101" name="Rectangle 100">
              <a:extLst>
                <a:ext uri="{FF2B5EF4-FFF2-40B4-BE49-F238E27FC236}">
                  <a16:creationId xmlns:a16="http://schemas.microsoft.com/office/drawing/2014/main" id="{05A4C456-7621-B4D0-6042-27BFE1823B7A}"/>
                </a:ext>
              </a:extLst>
            </p:cNvPr>
            <p:cNvSpPr/>
            <p:nvPr/>
          </p:nvSpPr>
          <p:spPr>
            <a:xfrm>
              <a:off x="15162359" y="4144499"/>
              <a:ext cx="789428" cy="284194"/>
            </a:xfrm>
            <a:prstGeom prst="rect">
              <a:avLst/>
            </a:prstGeom>
            <a:solidFill>
              <a:srgbClr val="EDF5FD"/>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02" name="TextBox 101">
              <a:extLst>
                <a:ext uri="{FF2B5EF4-FFF2-40B4-BE49-F238E27FC236}">
                  <a16:creationId xmlns:a16="http://schemas.microsoft.com/office/drawing/2014/main" id="{F87AC2FB-DB3B-3870-BF10-6C09791088C7}"/>
                </a:ext>
              </a:extLst>
            </p:cNvPr>
            <p:cNvSpPr txBox="1"/>
            <p:nvPr/>
          </p:nvSpPr>
          <p:spPr>
            <a:xfrm>
              <a:off x="15174200" y="4135292"/>
              <a:ext cx="765746" cy="302610"/>
            </a:xfrm>
            <a:prstGeom prst="rect">
              <a:avLst/>
            </a:prstGeom>
            <a:noFill/>
          </p:spPr>
          <p:txBody>
            <a:bodyPr wrap="square" lIns="19736" rIns="19736" anchor="ctr">
              <a:spAutoFit/>
            </a:bodyPr>
            <a:lstStyle/>
            <a:p>
              <a:pPr algn="ctr"/>
              <a:r>
                <a:rPr sz="1000" b="1" dirty="0">
                  <a:solidFill>
                    <a:srgbClr val="14191E"/>
                  </a:solidFill>
                  <a:latin typeface="Aptos"/>
                </a:rPr>
                <a:t>Stage 2
(Raw Prediction)</a:t>
              </a:r>
            </a:p>
          </p:txBody>
        </p:sp>
        <p:sp>
          <p:nvSpPr>
            <p:cNvPr id="103" name="Rectangle 102">
              <a:extLst>
                <a:ext uri="{FF2B5EF4-FFF2-40B4-BE49-F238E27FC236}">
                  <a16:creationId xmlns:a16="http://schemas.microsoft.com/office/drawing/2014/main" id="{086CF790-23CA-0FF6-F1C5-833D73CA9534}"/>
                </a:ext>
              </a:extLst>
            </p:cNvPr>
            <p:cNvSpPr/>
            <p:nvPr/>
          </p:nvSpPr>
          <p:spPr>
            <a:xfrm>
              <a:off x="15951788" y="4144499"/>
              <a:ext cx="809164" cy="284194"/>
            </a:xfrm>
            <a:prstGeom prst="rect">
              <a:avLst/>
            </a:prstGeom>
            <a:solidFill>
              <a:srgbClr val="EDF5FD"/>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04" name="TextBox 103">
              <a:extLst>
                <a:ext uri="{FF2B5EF4-FFF2-40B4-BE49-F238E27FC236}">
                  <a16:creationId xmlns:a16="http://schemas.microsoft.com/office/drawing/2014/main" id="{9E618F31-C8F3-748D-21AF-40B19FAFAE90}"/>
                </a:ext>
              </a:extLst>
            </p:cNvPr>
            <p:cNvSpPr txBox="1"/>
            <p:nvPr/>
          </p:nvSpPr>
          <p:spPr>
            <a:xfrm>
              <a:off x="15963630" y="4135292"/>
              <a:ext cx="785481" cy="302610"/>
            </a:xfrm>
            <a:prstGeom prst="rect">
              <a:avLst/>
            </a:prstGeom>
            <a:noFill/>
          </p:spPr>
          <p:txBody>
            <a:bodyPr wrap="square" lIns="19736" rIns="19736" anchor="ctr">
              <a:spAutoFit/>
            </a:bodyPr>
            <a:lstStyle/>
            <a:p>
              <a:pPr algn="ctr"/>
              <a:r>
                <a:rPr sz="1000" b="1" dirty="0">
                  <a:solidFill>
                    <a:srgbClr val="14191E"/>
                  </a:solidFill>
                  <a:latin typeface="Aptos"/>
                </a:rPr>
                <a:t>Stage 2 + 3
(Corrected)</a:t>
              </a:r>
            </a:p>
          </p:txBody>
        </p:sp>
        <p:sp>
          <p:nvSpPr>
            <p:cNvPr id="105" name="Rectangle 104">
              <a:extLst>
                <a:ext uri="{FF2B5EF4-FFF2-40B4-BE49-F238E27FC236}">
                  <a16:creationId xmlns:a16="http://schemas.microsoft.com/office/drawing/2014/main" id="{64523059-308C-7046-EB68-25FAE3DE2C70}"/>
                </a:ext>
              </a:extLst>
            </p:cNvPr>
            <p:cNvSpPr/>
            <p:nvPr/>
          </p:nvSpPr>
          <p:spPr>
            <a:xfrm>
              <a:off x="16760952" y="4144499"/>
              <a:ext cx="789428" cy="284194"/>
            </a:xfrm>
            <a:prstGeom prst="rect">
              <a:avLst/>
            </a:prstGeom>
            <a:solidFill>
              <a:srgbClr val="EDF5FD"/>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06" name="TextBox 105">
              <a:extLst>
                <a:ext uri="{FF2B5EF4-FFF2-40B4-BE49-F238E27FC236}">
                  <a16:creationId xmlns:a16="http://schemas.microsoft.com/office/drawing/2014/main" id="{6B485897-0A3F-CB4F-60C2-A20389E5D947}"/>
                </a:ext>
              </a:extLst>
            </p:cNvPr>
            <p:cNvSpPr txBox="1"/>
            <p:nvPr/>
          </p:nvSpPr>
          <p:spPr>
            <a:xfrm>
              <a:off x="16772793" y="4193489"/>
              <a:ext cx="765746" cy="186221"/>
            </a:xfrm>
            <a:prstGeom prst="rect">
              <a:avLst/>
            </a:prstGeom>
            <a:noFill/>
          </p:spPr>
          <p:txBody>
            <a:bodyPr wrap="square" lIns="19736" rIns="19736" anchor="ctr">
              <a:spAutoFit/>
            </a:bodyPr>
            <a:lstStyle/>
            <a:p>
              <a:pPr algn="ctr"/>
              <a:r>
                <a:rPr sz="1000" b="1" dirty="0">
                  <a:solidFill>
                    <a:srgbClr val="14191E"/>
                  </a:solidFill>
                  <a:latin typeface="Aptos"/>
                </a:rPr>
                <a:t>Improvement</a:t>
              </a:r>
            </a:p>
          </p:txBody>
        </p:sp>
        <p:sp>
          <p:nvSpPr>
            <p:cNvPr id="107" name="Rectangle 106">
              <a:extLst>
                <a:ext uri="{FF2B5EF4-FFF2-40B4-BE49-F238E27FC236}">
                  <a16:creationId xmlns:a16="http://schemas.microsoft.com/office/drawing/2014/main" id="{2CB26A6B-1BD4-929C-3ED8-D30A60041412}"/>
                </a:ext>
              </a:extLst>
            </p:cNvPr>
            <p:cNvSpPr/>
            <p:nvPr/>
          </p:nvSpPr>
          <p:spPr>
            <a:xfrm>
              <a:off x="14234781" y="4428694"/>
              <a:ext cx="927578" cy="244723"/>
            </a:xfrm>
            <a:prstGeom prst="rect">
              <a:avLst/>
            </a:prstGeom>
            <a:solidFill>
              <a:srgbClr val="F6F8FA"/>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08" name="TextBox 107">
              <a:extLst>
                <a:ext uri="{FF2B5EF4-FFF2-40B4-BE49-F238E27FC236}">
                  <a16:creationId xmlns:a16="http://schemas.microsoft.com/office/drawing/2014/main" id="{F26F83CB-3E20-5F86-64BF-B2659CF1DD1D}"/>
                </a:ext>
              </a:extLst>
            </p:cNvPr>
            <p:cNvSpPr txBox="1"/>
            <p:nvPr/>
          </p:nvSpPr>
          <p:spPr>
            <a:xfrm>
              <a:off x="14246622" y="4457947"/>
              <a:ext cx="903896" cy="186221"/>
            </a:xfrm>
            <a:prstGeom prst="rect">
              <a:avLst/>
            </a:prstGeom>
            <a:noFill/>
          </p:spPr>
          <p:txBody>
            <a:bodyPr wrap="square" lIns="19736" rIns="19736" anchor="ctr">
              <a:spAutoFit/>
            </a:bodyPr>
            <a:lstStyle/>
            <a:p>
              <a:pPr algn="ctr"/>
              <a:r>
                <a:rPr sz="1000" b="1" dirty="0">
                  <a:solidFill>
                    <a:srgbClr val="14191E"/>
                  </a:solidFill>
                  <a:latin typeface="Aptos"/>
                </a:rPr>
                <a:t>R²</a:t>
              </a:r>
              <a:endParaRPr sz="432" b="1" dirty="0">
                <a:solidFill>
                  <a:srgbClr val="14191E"/>
                </a:solidFill>
                <a:latin typeface="Aptos"/>
              </a:endParaRPr>
            </a:p>
          </p:txBody>
        </p:sp>
        <p:sp>
          <p:nvSpPr>
            <p:cNvPr id="109" name="Rectangle 108">
              <a:extLst>
                <a:ext uri="{FF2B5EF4-FFF2-40B4-BE49-F238E27FC236}">
                  <a16:creationId xmlns:a16="http://schemas.microsoft.com/office/drawing/2014/main" id="{914DE25A-7E47-E30A-9FA1-1DC654A4EE2A}"/>
                </a:ext>
              </a:extLst>
            </p:cNvPr>
            <p:cNvSpPr/>
            <p:nvPr/>
          </p:nvSpPr>
          <p:spPr>
            <a:xfrm>
              <a:off x="15162359" y="4428694"/>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10" name="TextBox 109">
              <a:extLst>
                <a:ext uri="{FF2B5EF4-FFF2-40B4-BE49-F238E27FC236}">
                  <a16:creationId xmlns:a16="http://schemas.microsoft.com/office/drawing/2014/main" id="{E362A2F7-9E1B-4A24-FAE4-808A125E7465}"/>
                </a:ext>
              </a:extLst>
            </p:cNvPr>
            <p:cNvSpPr txBox="1"/>
            <p:nvPr/>
          </p:nvSpPr>
          <p:spPr>
            <a:xfrm>
              <a:off x="15116967" y="4456024"/>
              <a:ext cx="765746" cy="209499"/>
            </a:xfrm>
            <a:prstGeom prst="rect">
              <a:avLst/>
            </a:prstGeom>
            <a:noFill/>
          </p:spPr>
          <p:txBody>
            <a:bodyPr wrap="square" lIns="19736" rIns="19736" anchor="ctr">
              <a:spAutoFit/>
            </a:bodyPr>
            <a:lstStyle/>
            <a:p>
              <a:pPr algn="ctr"/>
              <a:r>
                <a:rPr sz="1200" dirty="0">
                  <a:solidFill>
                    <a:srgbClr val="14191E"/>
                  </a:solidFill>
                  <a:latin typeface="Aptos"/>
                </a:rPr>
                <a:t>0.818</a:t>
              </a:r>
              <a:endParaRPr sz="1000" dirty="0">
                <a:solidFill>
                  <a:srgbClr val="14191E"/>
                </a:solidFill>
                <a:latin typeface="Aptos"/>
              </a:endParaRPr>
            </a:p>
          </p:txBody>
        </p:sp>
        <p:sp>
          <p:nvSpPr>
            <p:cNvPr id="111" name="Rectangle 110">
              <a:extLst>
                <a:ext uri="{FF2B5EF4-FFF2-40B4-BE49-F238E27FC236}">
                  <a16:creationId xmlns:a16="http://schemas.microsoft.com/office/drawing/2014/main" id="{DA8E3399-AC5E-A083-DEEB-E6A4386AACAA}"/>
                </a:ext>
              </a:extLst>
            </p:cNvPr>
            <p:cNvSpPr/>
            <p:nvPr/>
          </p:nvSpPr>
          <p:spPr>
            <a:xfrm>
              <a:off x="15951788" y="4428694"/>
              <a:ext cx="809164"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12" name="TextBox 111">
              <a:extLst>
                <a:ext uri="{FF2B5EF4-FFF2-40B4-BE49-F238E27FC236}">
                  <a16:creationId xmlns:a16="http://schemas.microsoft.com/office/drawing/2014/main" id="{4F27FE97-6E54-5AC2-2EC2-D8415652AF52}"/>
                </a:ext>
              </a:extLst>
            </p:cNvPr>
            <p:cNvSpPr txBox="1"/>
            <p:nvPr/>
          </p:nvSpPr>
          <p:spPr>
            <a:xfrm>
              <a:off x="15963630" y="4446308"/>
              <a:ext cx="785481" cy="209499"/>
            </a:xfrm>
            <a:prstGeom prst="rect">
              <a:avLst/>
            </a:prstGeom>
            <a:noFill/>
          </p:spPr>
          <p:txBody>
            <a:bodyPr wrap="square" lIns="19736" rIns="19736" anchor="ctr">
              <a:spAutoFit/>
            </a:bodyPr>
            <a:lstStyle/>
            <a:p>
              <a:pPr algn="ctr"/>
              <a:r>
                <a:rPr sz="1200" dirty="0">
                  <a:solidFill>
                    <a:srgbClr val="14191E"/>
                  </a:solidFill>
                  <a:latin typeface="Aptos"/>
                </a:rPr>
                <a:t>0.921</a:t>
              </a:r>
              <a:endParaRPr sz="449" dirty="0">
                <a:solidFill>
                  <a:srgbClr val="14191E"/>
                </a:solidFill>
                <a:latin typeface="Aptos"/>
              </a:endParaRPr>
            </a:p>
          </p:txBody>
        </p:sp>
        <p:sp>
          <p:nvSpPr>
            <p:cNvPr id="113" name="Rectangle 112">
              <a:extLst>
                <a:ext uri="{FF2B5EF4-FFF2-40B4-BE49-F238E27FC236}">
                  <a16:creationId xmlns:a16="http://schemas.microsoft.com/office/drawing/2014/main" id="{7D2907F1-229D-1205-E5C4-C24E08EF8225}"/>
                </a:ext>
              </a:extLst>
            </p:cNvPr>
            <p:cNvSpPr/>
            <p:nvPr/>
          </p:nvSpPr>
          <p:spPr>
            <a:xfrm>
              <a:off x="16760952" y="4428694"/>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14" name="TextBox 113">
              <a:extLst>
                <a:ext uri="{FF2B5EF4-FFF2-40B4-BE49-F238E27FC236}">
                  <a16:creationId xmlns:a16="http://schemas.microsoft.com/office/drawing/2014/main" id="{47AE754C-382C-CC40-BE0C-280203FDC25D}"/>
                </a:ext>
              </a:extLst>
            </p:cNvPr>
            <p:cNvSpPr txBox="1"/>
            <p:nvPr/>
          </p:nvSpPr>
          <p:spPr>
            <a:xfrm>
              <a:off x="16772793" y="4446308"/>
              <a:ext cx="765746" cy="209499"/>
            </a:xfrm>
            <a:prstGeom prst="rect">
              <a:avLst/>
            </a:prstGeom>
            <a:noFill/>
          </p:spPr>
          <p:txBody>
            <a:bodyPr wrap="square" lIns="19736" rIns="19736" anchor="ctr">
              <a:spAutoFit/>
            </a:bodyPr>
            <a:lstStyle/>
            <a:p>
              <a:pPr algn="ctr"/>
              <a:r>
                <a:rPr sz="1200" dirty="0">
                  <a:solidFill>
                    <a:srgbClr val="14191E"/>
                  </a:solidFill>
                  <a:latin typeface="Aptos"/>
                </a:rPr>
                <a:t>+12.5%</a:t>
              </a:r>
            </a:p>
          </p:txBody>
        </p:sp>
        <p:sp>
          <p:nvSpPr>
            <p:cNvPr id="115" name="Rectangle 114">
              <a:extLst>
                <a:ext uri="{FF2B5EF4-FFF2-40B4-BE49-F238E27FC236}">
                  <a16:creationId xmlns:a16="http://schemas.microsoft.com/office/drawing/2014/main" id="{79B9F6D5-C671-C150-E849-47AF27F33CAC}"/>
                </a:ext>
              </a:extLst>
            </p:cNvPr>
            <p:cNvSpPr/>
            <p:nvPr/>
          </p:nvSpPr>
          <p:spPr>
            <a:xfrm>
              <a:off x="14234781" y="4673417"/>
              <a:ext cx="927578" cy="244723"/>
            </a:xfrm>
            <a:prstGeom prst="rect">
              <a:avLst/>
            </a:prstGeom>
            <a:solidFill>
              <a:srgbClr val="F6F8FA"/>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16" name="TextBox 115">
              <a:extLst>
                <a:ext uri="{FF2B5EF4-FFF2-40B4-BE49-F238E27FC236}">
                  <a16:creationId xmlns:a16="http://schemas.microsoft.com/office/drawing/2014/main" id="{0EB8C38C-C759-9D41-64C2-7A2CB0647000}"/>
                </a:ext>
              </a:extLst>
            </p:cNvPr>
            <p:cNvSpPr txBox="1"/>
            <p:nvPr/>
          </p:nvSpPr>
          <p:spPr>
            <a:xfrm>
              <a:off x="14246622" y="4702669"/>
              <a:ext cx="903896" cy="186221"/>
            </a:xfrm>
            <a:prstGeom prst="rect">
              <a:avLst/>
            </a:prstGeom>
            <a:noFill/>
          </p:spPr>
          <p:txBody>
            <a:bodyPr wrap="square" lIns="19736" rIns="19736" anchor="ctr">
              <a:spAutoFit/>
            </a:bodyPr>
            <a:lstStyle/>
            <a:p>
              <a:pPr algn="ctr"/>
              <a:r>
                <a:rPr sz="1000" b="1" dirty="0">
                  <a:solidFill>
                    <a:srgbClr val="14191E"/>
                  </a:solidFill>
                  <a:latin typeface="Aptos"/>
                </a:rPr>
                <a:t>MAE</a:t>
              </a:r>
              <a:endParaRPr sz="432" b="1" dirty="0">
                <a:solidFill>
                  <a:srgbClr val="14191E"/>
                </a:solidFill>
                <a:latin typeface="Aptos"/>
              </a:endParaRPr>
            </a:p>
          </p:txBody>
        </p:sp>
        <p:sp>
          <p:nvSpPr>
            <p:cNvPr id="117" name="Rectangle 116">
              <a:extLst>
                <a:ext uri="{FF2B5EF4-FFF2-40B4-BE49-F238E27FC236}">
                  <a16:creationId xmlns:a16="http://schemas.microsoft.com/office/drawing/2014/main" id="{093BE03B-30F0-9A99-3E71-67E6BCA78ACB}"/>
                </a:ext>
              </a:extLst>
            </p:cNvPr>
            <p:cNvSpPr/>
            <p:nvPr/>
          </p:nvSpPr>
          <p:spPr>
            <a:xfrm>
              <a:off x="15162359" y="4673417"/>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18" name="TextBox 117">
              <a:extLst>
                <a:ext uri="{FF2B5EF4-FFF2-40B4-BE49-F238E27FC236}">
                  <a16:creationId xmlns:a16="http://schemas.microsoft.com/office/drawing/2014/main" id="{98D953A2-4EE8-1FE8-1073-4055D90660FC}"/>
                </a:ext>
              </a:extLst>
            </p:cNvPr>
            <p:cNvSpPr txBox="1"/>
            <p:nvPr/>
          </p:nvSpPr>
          <p:spPr>
            <a:xfrm>
              <a:off x="15174200" y="4691030"/>
              <a:ext cx="656191" cy="209499"/>
            </a:xfrm>
            <a:prstGeom prst="rect">
              <a:avLst/>
            </a:prstGeom>
            <a:noFill/>
          </p:spPr>
          <p:txBody>
            <a:bodyPr wrap="square" lIns="19736" rIns="19736" anchor="ctr">
              <a:spAutoFit/>
            </a:bodyPr>
            <a:lstStyle/>
            <a:p>
              <a:pPr algn="ctr"/>
              <a:r>
                <a:rPr sz="1200" dirty="0">
                  <a:solidFill>
                    <a:srgbClr val="14191E"/>
                  </a:solidFill>
                  <a:latin typeface="Aptos"/>
                </a:rPr>
                <a:t>5.568</a:t>
              </a:r>
              <a:endParaRPr sz="1000" dirty="0">
                <a:solidFill>
                  <a:srgbClr val="14191E"/>
                </a:solidFill>
                <a:latin typeface="Aptos"/>
              </a:endParaRPr>
            </a:p>
          </p:txBody>
        </p:sp>
        <p:sp>
          <p:nvSpPr>
            <p:cNvPr id="119" name="Rectangle 118">
              <a:extLst>
                <a:ext uri="{FF2B5EF4-FFF2-40B4-BE49-F238E27FC236}">
                  <a16:creationId xmlns:a16="http://schemas.microsoft.com/office/drawing/2014/main" id="{CE364367-5F21-66AC-BC9D-2FF1CBA3DDAD}"/>
                </a:ext>
              </a:extLst>
            </p:cNvPr>
            <p:cNvSpPr/>
            <p:nvPr/>
          </p:nvSpPr>
          <p:spPr>
            <a:xfrm>
              <a:off x="15951788" y="4673417"/>
              <a:ext cx="809164"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20" name="TextBox 119">
              <a:extLst>
                <a:ext uri="{FF2B5EF4-FFF2-40B4-BE49-F238E27FC236}">
                  <a16:creationId xmlns:a16="http://schemas.microsoft.com/office/drawing/2014/main" id="{C82B400E-6B26-F826-2E8D-BF87F1D20610}"/>
                </a:ext>
              </a:extLst>
            </p:cNvPr>
            <p:cNvSpPr txBox="1"/>
            <p:nvPr/>
          </p:nvSpPr>
          <p:spPr>
            <a:xfrm>
              <a:off x="15963630" y="4691030"/>
              <a:ext cx="785481" cy="209499"/>
            </a:xfrm>
            <a:prstGeom prst="rect">
              <a:avLst/>
            </a:prstGeom>
            <a:noFill/>
          </p:spPr>
          <p:txBody>
            <a:bodyPr wrap="square" lIns="19736" rIns="19736" anchor="ctr">
              <a:spAutoFit/>
            </a:bodyPr>
            <a:lstStyle/>
            <a:p>
              <a:pPr algn="ctr"/>
              <a:r>
                <a:rPr sz="1200" dirty="0">
                  <a:solidFill>
                    <a:srgbClr val="14191E"/>
                  </a:solidFill>
                  <a:latin typeface="Aptos"/>
                </a:rPr>
                <a:t>3.486</a:t>
              </a:r>
              <a:endParaRPr sz="449" dirty="0">
                <a:solidFill>
                  <a:srgbClr val="14191E"/>
                </a:solidFill>
                <a:latin typeface="Aptos"/>
              </a:endParaRPr>
            </a:p>
          </p:txBody>
        </p:sp>
        <p:sp>
          <p:nvSpPr>
            <p:cNvPr id="121" name="Rectangle 120">
              <a:extLst>
                <a:ext uri="{FF2B5EF4-FFF2-40B4-BE49-F238E27FC236}">
                  <a16:creationId xmlns:a16="http://schemas.microsoft.com/office/drawing/2014/main" id="{C59BD6D1-EF6F-9936-8A97-7B1203BB4A86}"/>
                </a:ext>
              </a:extLst>
            </p:cNvPr>
            <p:cNvSpPr/>
            <p:nvPr/>
          </p:nvSpPr>
          <p:spPr>
            <a:xfrm>
              <a:off x="16760952" y="4673417"/>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22" name="TextBox 121">
              <a:extLst>
                <a:ext uri="{FF2B5EF4-FFF2-40B4-BE49-F238E27FC236}">
                  <a16:creationId xmlns:a16="http://schemas.microsoft.com/office/drawing/2014/main" id="{4FA863FE-1AE3-7DD6-717A-77139925B14F}"/>
                </a:ext>
              </a:extLst>
            </p:cNvPr>
            <p:cNvSpPr txBox="1"/>
            <p:nvPr/>
          </p:nvSpPr>
          <p:spPr>
            <a:xfrm>
              <a:off x="16784634" y="4673417"/>
              <a:ext cx="765746" cy="209499"/>
            </a:xfrm>
            <a:prstGeom prst="rect">
              <a:avLst/>
            </a:prstGeom>
            <a:noFill/>
          </p:spPr>
          <p:txBody>
            <a:bodyPr wrap="square" lIns="19736" rIns="19736" anchor="ctr">
              <a:spAutoFit/>
            </a:bodyPr>
            <a:lstStyle/>
            <a:p>
              <a:pPr algn="ctr"/>
              <a:r>
                <a:rPr sz="1200" dirty="0">
                  <a:solidFill>
                    <a:srgbClr val="14191E"/>
                  </a:solidFill>
                  <a:latin typeface="Aptos"/>
                </a:rPr>
                <a:t>-37.4%</a:t>
              </a:r>
            </a:p>
          </p:txBody>
        </p:sp>
        <p:sp>
          <p:nvSpPr>
            <p:cNvPr id="123" name="Rectangle 122">
              <a:extLst>
                <a:ext uri="{FF2B5EF4-FFF2-40B4-BE49-F238E27FC236}">
                  <a16:creationId xmlns:a16="http://schemas.microsoft.com/office/drawing/2014/main" id="{F072A233-8819-2B33-9753-C358F6375D42}"/>
                </a:ext>
              </a:extLst>
            </p:cNvPr>
            <p:cNvSpPr/>
            <p:nvPr/>
          </p:nvSpPr>
          <p:spPr>
            <a:xfrm>
              <a:off x="14234781" y="4918140"/>
              <a:ext cx="927578" cy="244723"/>
            </a:xfrm>
            <a:prstGeom prst="rect">
              <a:avLst/>
            </a:prstGeom>
            <a:solidFill>
              <a:srgbClr val="F6F8FA"/>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24" name="TextBox 123">
              <a:extLst>
                <a:ext uri="{FF2B5EF4-FFF2-40B4-BE49-F238E27FC236}">
                  <a16:creationId xmlns:a16="http://schemas.microsoft.com/office/drawing/2014/main" id="{B2265D6F-9D63-0533-936C-AC18B16B4893}"/>
                </a:ext>
              </a:extLst>
            </p:cNvPr>
            <p:cNvSpPr txBox="1"/>
            <p:nvPr/>
          </p:nvSpPr>
          <p:spPr>
            <a:xfrm>
              <a:off x="14246622" y="4947392"/>
              <a:ext cx="903896" cy="186221"/>
            </a:xfrm>
            <a:prstGeom prst="rect">
              <a:avLst/>
            </a:prstGeom>
            <a:noFill/>
          </p:spPr>
          <p:txBody>
            <a:bodyPr wrap="square" lIns="19736" rIns="19736" anchor="ctr">
              <a:spAutoFit/>
            </a:bodyPr>
            <a:lstStyle/>
            <a:p>
              <a:pPr algn="ctr"/>
              <a:r>
                <a:rPr sz="1000" b="1" dirty="0">
                  <a:solidFill>
                    <a:srgbClr val="14191E"/>
                  </a:solidFill>
                  <a:latin typeface="Aptos"/>
                </a:rPr>
                <a:t>MAPE</a:t>
              </a:r>
            </a:p>
          </p:txBody>
        </p:sp>
        <p:sp>
          <p:nvSpPr>
            <p:cNvPr id="125" name="Rectangle 124">
              <a:extLst>
                <a:ext uri="{FF2B5EF4-FFF2-40B4-BE49-F238E27FC236}">
                  <a16:creationId xmlns:a16="http://schemas.microsoft.com/office/drawing/2014/main" id="{63A50266-C207-559E-DF8D-23F0F8B33BA6}"/>
                </a:ext>
              </a:extLst>
            </p:cNvPr>
            <p:cNvSpPr/>
            <p:nvPr/>
          </p:nvSpPr>
          <p:spPr>
            <a:xfrm>
              <a:off x="15162359" y="4918140"/>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26" name="TextBox 125">
              <a:extLst>
                <a:ext uri="{FF2B5EF4-FFF2-40B4-BE49-F238E27FC236}">
                  <a16:creationId xmlns:a16="http://schemas.microsoft.com/office/drawing/2014/main" id="{6193A4CF-786A-9A15-4CCF-4EA6420651DB}"/>
                </a:ext>
              </a:extLst>
            </p:cNvPr>
            <p:cNvSpPr txBox="1"/>
            <p:nvPr/>
          </p:nvSpPr>
          <p:spPr>
            <a:xfrm>
              <a:off x="15174200" y="4935754"/>
              <a:ext cx="680379" cy="209499"/>
            </a:xfrm>
            <a:prstGeom prst="rect">
              <a:avLst/>
            </a:prstGeom>
            <a:noFill/>
          </p:spPr>
          <p:txBody>
            <a:bodyPr wrap="square" lIns="19736" rIns="19736" anchor="ctr">
              <a:spAutoFit/>
            </a:bodyPr>
            <a:lstStyle/>
            <a:p>
              <a:pPr algn="ctr"/>
              <a:r>
                <a:rPr sz="1200" dirty="0">
                  <a:solidFill>
                    <a:srgbClr val="14191E"/>
                  </a:solidFill>
                  <a:latin typeface="Aptos"/>
                </a:rPr>
                <a:t>2.63%</a:t>
              </a:r>
              <a:endParaRPr sz="449" dirty="0">
                <a:solidFill>
                  <a:srgbClr val="14191E"/>
                </a:solidFill>
                <a:latin typeface="Aptos"/>
              </a:endParaRPr>
            </a:p>
          </p:txBody>
        </p:sp>
        <p:sp>
          <p:nvSpPr>
            <p:cNvPr id="127" name="Rectangle 126">
              <a:extLst>
                <a:ext uri="{FF2B5EF4-FFF2-40B4-BE49-F238E27FC236}">
                  <a16:creationId xmlns:a16="http://schemas.microsoft.com/office/drawing/2014/main" id="{1CD178FD-3BFA-67B8-A572-275058999194}"/>
                </a:ext>
              </a:extLst>
            </p:cNvPr>
            <p:cNvSpPr/>
            <p:nvPr/>
          </p:nvSpPr>
          <p:spPr>
            <a:xfrm>
              <a:off x="15951788" y="4918140"/>
              <a:ext cx="809164"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28" name="TextBox 127">
              <a:extLst>
                <a:ext uri="{FF2B5EF4-FFF2-40B4-BE49-F238E27FC236}">
                  <a16:creationId xmlns:a16="http://schemas.microsoft.com/office/drawing/2014/main" id="{AFCE2A5D-FF3C-DAA5-B6BF-C37CC4876ACC}"/>
                </a:ext>
              </a:extLst>
            </p:cNvPr>
            <p:cNvSpPr txBox="1"/>
            <p:nvPr/>
          </p:nvSpPr>
          <p:spPr>
            <a:xfrm>
              <a:off x="15963630" y="4935754"/>
              <a:ext cx="785481" cy="209499"/>
            </a:xfrm>
            <a:prstGeom prst="rect">
              <a:avLst/>
            </a:prstGeom>
            <a:noFill/>
          </p:spPr>
          <p:txBody>
            <a:bodyPr wrap="square" lIns="19736" rIns="19736" anchor="ctr">
              <a:spAutoFit/>
            </a:bodyPr>
            <a:lstStyle/>
            <a:p>
              <a:pPr algn="ctr"/>
              <a:r>
                <a:rPr sz="1200" dirty="0">
                  <a:solidFill>
                    <a:srgbClr val="14191E"/>
                  </a:solidFill>
                  <a:latin typeface="Aptos"/>
                </a:rPr>
                <a:t>1.66%</a:t>
              </a:r>
              <a:endParaRPr sz="1000" dirty="0">
                <a:solidFill>
                  <a:srgbClr val="14191E"/>
                </a:solidFill>
                <a:latin typeface="Aptos"/>
              </a:endParaRPr>
            </a:p>
          </p:txBody>
        </p:sp>
        <p:sp>
          <p:nvSpPr>
            <p:cNvPr id="129" name="Rectangle 128">
              <a:extLst>
                <a:ext uri="{FF2B5EF4-FFF2-40B4-BE49-F238E27FC236}">
                  <a16:creationId xmlns:a16="http://schemas.microsoft.com/office/drawing/2014/main" id="{F21CA314-E66D-9C58-4D3D-F77DBA0879AB}"/>
                </a:ext>
              </a:extLst>
            </p:cNvPr>
            <p:cNvSpPr/>
            <p:nvPr/>
          </p:nvSpPr>
          <p:spPr>
            <a:xfrm>
              <a:off x="16760952" y="4918140"/>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30" name="TextBox 129">
              <a:extLst>
                <a:ext uri="{FF2B5EF4-FFF2-40B4-BE49-F238E27FC236}">
                  <a16:creationId xmlns:a16="http://schemas.microsoft.com/office/drawing/2014/main" id="{A8B30E1D-A9BC-E672-321C-ABD19F3FC29F}"/>
                </a:ext>
              </a:extLst>
            </p:cNvPr>
            <p:cNvSpPr txBox="1"/>
            <p:nvPr/>
          </p:nvSpPr>
          <p:spPr>
            <a:xfrm>
              <a:off x="16772793" y="4935754"/>
              <a:ext cx="765746" cy="209499"/>
            </a:xfrm>
            <a:prstGeom prst="rect">
              <a:avLst/>
            </a:prstGeom>
            <a:noFill/>
          </p:spPr>
          <p:txBody>
            <a:bodyPr wrap="square" lIns="19736" rIns="19736" anchor="ctr">
              <a:spAutoFit/>
            </a:bodyPr>
            <a:lstStyle/>
            <a:p>
              <a:pPr algn="ctr"/>
              <a:r>
                <a:rPr sz="1200" dirty="0">
                  <a:solidFill>
                    <a:srgbClr val="14191E"/>
                  </a:solidFill>
                  <a:latin typeface="Aptos"/>
                </a:rPr>
                <a:t>-37.0%</a:t>
              </a:r>
            </a:p>
          </p:txBody>
        </p:sp>
        <p:sp>
          <p:nvSpPr>
            <p:cNvPr id="131" name="Rectangle 130">
              <a:extLst>
                <a:ext uri="{FF2B5EF4-FFF2-40B4-BE49-F238E27FC236}">
                  <a16:creationId xmlns:a16="http://schemas.microsoft.com/office/drawing/2014/main" id="{27A0501B-868A-E211-0DD3-9FE3E147BA82}"/>
                </a:ext>
              </a:extLst>
            </p:cNvPr>
            <p:cNvSpPr/>
            <p:nvPr/>
          </p:nvSpPr>
          <p:spPr>
            <a:xfrm>
              <a:off x="14234781" y="5162863"/>
              <a:ext cx="927578" cy="244723"/>
            </a:xfrm>
            <a:prstGeom prst="rect">
              <a:avLst/>
            </a:prstGeom>
            <a:solidFill>
              <a:srgbClr val="F6F8FA"/>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32" name="TextBox 131">
              <a:extLst>
                <a:ext uri="{FF2B5EF4-FFF2-40B4-BE49-F238E27FC236}">
                  <a16:creationId xmlns:a16="http://schemas.microsoft.com/office/drawing/2014/main" id="{77A696A2-803C-C000-75EF-7AC7C213AB4C}"/>
                </a:ext>
              </a:extLst>
            </p:cNvPr>
            <p:cNvSpPr txBox="1"/>
            <p:nvPr/>
          </p:nvSpPr>
          <p:spPr>
            <a:xfrm>
              <a:off x="14246622" y="5133918"/>
              <a:ext cx="903896" cy="302610"/>
            </a:xfrm>
            <a:prstGeom prst="rect">
              <a:avLst/>
            </a:prstGeom>
            <a:noFill/>
          </p:spPr>
          <p:txBody>
            <a:bodyPr wrap="square" lIns="19736" rIns="19736" anchor="ctr">
              <a:spAutoFit/>
            </a:bodyPr>
            <a:lstStyle/>
            <a:p>
              <a:pPr algn="ctr"/>
              <a:r>
                <a:rPr sz="1000" b="1" dirty="0">
                  <a:solidFill>
                    <a:srgbClr val="14191E"/>
                  </a:solidFill>
                  <a:latin typeface="Aptos"/>
                </a:rPr>
                <a:t>Directional
Accuracy</a:t>
              </a:r>
            </a:p>
          </p:txBody>
        </p:sp>
        <p:sp>
          <p:nvSpPr>
            <p:cNvPr id="133" name="Rectangle 132">
              <a:extLst>
                <a:ext uri="{FF2B5EF4-FFF2-40B4-BE49-F238E27FC236}">
                  <a16:creationId xmlns:a16="http://schemas.microsoft.com/office/drawing/2014/main" id="{72623247-B251-0315-9A96-FE7872087DC3}"/>
                </a:ext>
              </a:extLst>
            </p:cNvPr>
            <p:cNvSpPr/>
            <p:nvPr/>
          </p:nvSpPr>
          <p:spPr>
            <a:xfrm>
              <a:off x="15162359" y="5162863"/>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34" name="TextBox 133">
              <a:extLst>
                <a:ext uri="{FF2B5EF4-FFF2-40B4-BE49-F238E27FC236}">
                  <a16:creationId xmlns:a16="http://schemas.microsoft.com/office/drawing/2014/main" id="{DF65F3F1-A3D5-FB07-2656-3340D6E585CE}"/>
                </a:ext>
              </a:extLst>
            </p:cNvPr>
            <p:cNvSpPr txBox="1"/>
            <p:nvPr/>
          </p:nvSpPr>
          <p:spPr>
            <a:xfrm>
              <a:off x="15174200" y="5180476"/>
              <a:ext cx="680379" cy="209499"/>
            </a:xfrm>
            <a:prstGeom prst="rect">
              <a:avLst/>
            </a:prstGeom>
            <a:noFill/>
          </p:spPr>
          <p:txBody>
            <a:bodyPr wrap="square" lIns="19736" rIns="19736" anchor="ctr">
              <a:spAutoFit/>
            </a:bodyPr>
            <a:lstStyle/>
            <a:p>
              <a:pPr algn="ctr"/>
              <a:r>
                <a:rPr sz="1200" dirty="0">
                  <a:solidFill>
                    <a:srgbClr val="14191E"/>
                  </a:solidFill>
                  <a:latin typeface="Aptos"/>
                </a:rPr>
                <a:t>58.3%</a:t>
              </a:r>
              <a:endParaRPr sz="1000" dirty="0">
                <a:solidFill>
                  <a:srgbClr val="14191E"/>
                </a:solidFill>
                <a:latin typeface="Aptos"/>
              </a:endParaRPr>
            </a:p>
          </p:txBody>
        </p:sp>
        <p:sp>
          <p:nvSpPr>
            <p:cNvPr id="135" name="Rectangle 134">
              <a:extLst>
                <a:ext uri="{FF2B5EF4-FFF2-40B4-BE49-F238E27FC236}">
                  <a16:creationId xmlns:a16="http://schemas.microsoft.com/office/drawing/2014/main" id="{A08B2887-CD2F-DADC-5730-DBD574C90155}"/>
                </a:ext>
              </a:extLst>
            </p:cNvPr>
            <p:cNvSpPr/>
            <p:nvPr/>
          </p:nvSpPr>
          <p:spPr>
            <a:xfrm>
              <a:off x="15951788" y="5162863"/>
              <a:ext cx="809164"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36" name="TextBox 135">
              <a:extLst>
                <a:ext uri="{FF2B5EF4-FFF2-40B4-BE49-F238E27FC236}">
                  <a16:creationId xmlns:a16="http://schemas.microsoft.com/office/drawing/2014/main" id="{1F6FB0E2-25BB-617A-8983-9A0DE06C2E5B}"/>
                </a:ext>
              </a:extLst>
            </p:cNvPr>
            <p:cNvSpPr txBox="1"/>
            <p:nvPr/>
          </p:nvSpPr>
          <p:spPr>
            <a:xfrm>
              <a:off x="15963630" y="5180476"/>
              <a:ext cx="785481" cy="209499"/>
            </a:xfrm>
            <a:prstGeom prst="rect">
              <a:avLst/>
            </a:prstGeom>
            <a:noFill/>
          </p:spPr>
          <p:txBody>
            <a:bodyPr wrap="square" lIns="19736" rIns="19736" anchor="ctr">
              <a:spAutoFit/>
            </a:bodyPr>
            <a:lstStyle/>
            <a:p>
              <a:pPr algn="ctr"/>
              <a:r>
                <a:rPr sz="1200" dirty="0">
                  <a:solidFill>
                    <a:srgbClr val="14191E"/>
                  </a:solidFill>
                  <a:latin typeface="Aptos"/>
                </a:rPr>
                <a:t>77.5%</a:t>
              </a:r>
            </a:p>
          </p:txBody>
        </p:sp>
        <p:sp>
          <p:nvSpPr>
            <p:cNvPr id="137" name="Rectangle 136">
              <a:extLst>
                <a:ext uri="{FF2B5EF4-FFF2-40B4-BE49-F238E27FC236}">
                  <a16:creationId xmlns:a16="http://schemas.microsoft.com/office/drawing/2014/main" id="{531FDE77-AF43-7094-50E6-B304FDFD3F4C}"/>
                </a:ext>
              </a:extLst>
            </p:cNvPr>
            <p:cNvSpPr/>
            <p:nvPr/>
          </p:nvSpPr>
          <p:spPr>
            <a:xfrm>
              <a:off x="16760952" y="5162863"/>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138" name="TextBox 137">
              <a:extLst>
                <a:ext uri="{FF2B5EF4-FFF2-40B4-BE49-F238E27FC236}">
                  <a16:creationId xmlns:a16="http://schemas.microsoft.com/office/drawing/2014/main" id="{DC1CA9B2-19B3-A590-F184-B5DC4510A825}"/>
                </a:ext>
              </a:extLst>
            </p:cNvPr>
            <p:cNvSpPr txBox="1"/>
            <p:nvPr/>
          </p:nvSpPr>
          <p:spPr>
            <a:xfrm>
              <a:off x="16772793" y="5180476"/>
              <a:ext cx="765746" cy="209499"/>
            </a:xfrm>
            <a:prstGeom prst="rect">
              <a:avLst/>
            </a:prstGeom>
            <a:noFill/>
          </p:spPr>
          <p:txBody>
            <a:bodyPr wrap="square" lIns="19736" rIns="19736" anchor="ctr">
              <a:spAutoFit/>
            </a:bodyPr>
            <a:lstStyle/>
            <a:p>
              <a:pPr algn="ctr"/>
              <a:r>
                <a:rPr sz="1200" dirty="0">
                  <a:solidFill>
                    <a:srgbClr val="14191E"/>
                  </a:solidFill>
                  <a:latin typeface="Aptos"/>
                </a:rPr>
                <a:t>+19.2 pp</a:t>
              </a:r>
            </a:p>
          </p:txBody>
        </p:sp>
        <p:sp>
          <p:nvSpPr>
            <p:cNvPr id="601" name="Rectangle 600">
              <a:extLst>
                <a:ext uri="{FF2B5EF4-FFF2-40B4-BE49-F238E27FC236}">
                  <a16:creationId xmlns:a16="http://schemas.microsoft.com/office/drawing/2014/main" id="{27BDCD29-EC45-2F73-7D99-148F73EB4DE0}"/>
                </a:ext>
              </a:extLst>
            </p:cNvPr>
            <p:cNvSpPr/>
            <p:nvPr/>
          </p:nvSpPr>
          <p:spPr>
            <a:xfrm>
              <a:off x="14234781" y="5407586"/>
              <a:ext cx="927578" cy="244723"/>
            </a:xfrm>
            <a:prstGeom prst="rect">
              <a:avLst/>
            </a:prstGeom>
            <a:solidFill>
              <a:srgbClr val="F6F8FA"/>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02" name="TextBox 600">
              <a:extLst>
                <a:ext uri="{FF2B5EF4-FFF2-40B4-BE49-F238E27FC236}">
                  <a16:creationId xmlns:a16="http://schemas.microsoft.com/office/drawing/2014/main" id="{CD327D62-A066-CD56-3A81-6B9B5954A3D9}"/>
                </a:ext>
              </a:extLst>
            </p:cNvPr>
            <p:cNvSpPr txBox="1"/>
            <p:nvPr/>
          </p:nvSpPr>
          <p:spPr>
            <a:xfrm>
              <a:off x="14246622" y="5378642"/>
              <a:ext cx="903896" cy="302610"/>
            </a:xfrm>
            <a:prstGeom prst="rect">
              <a:avLst/>
            </a:prstGeom>
            <a:noFill/>
          </p:spPr>
          <p:txBody>
            <a:bodyPr wrap="square" lIns="19736" rIns="19736" anchor="ctr">
              <a:spAutoFit/>
            </a:bodyPr>
            <a:lstStyle/>
            <a:p>
              <a:pPr algn="ctr"/>
              <a:r>
                <a:rPr sz="1000" b="1" dirty="0">
                  <a:solidFill>
                    <a:srgbClr val="14191E"/>
                  </a:solidFill>
                  <a:latin typeface="Aptos"/>
                </a:rPr>
                <a:t>Hit Rate
@1% / @2%</a:t>
              </a:r>
            </a:p>
          </p:txBody>
        </p:sp>
        <p:sp>
          <p:nvSpPr>
            <p:cNvPr id="603" name="Rectangle 601">
              <a:extLst>
                <a:ext uri="{FF2B5EF4-FFF2-40B4-BE49-F238E27FC236}">
                  <a16:creationId xmlns:a16="http://schemas.microsoft.com/office/drawing/2014/main" id="{38668927-BDA7-5207-60C9-8A422CB61696}"/>
                </a:ext>
              </a:extLst>
            </p:cNvPr>
            <p:cNvSpPr/>
            <p:nvPr/>
          </p:nvSpPr>
          <p:spPr>
            <a:xfrm>
              <a:off x="15162359" y="5407586"/>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04" name="TextBox 602">
              <a:extLst>
                <a:ext uri="{FF2B5EF4-FFF2-40B4-BE49-F238E27FC236}">
                  <a16:creationId xmlns:a16="http://schemas.microsoft.com/office/drawing/2014/main" id="{F51C2261-70EB-ECAF-BEA8-CC5857B80813}"/>
                </a:ext>
              </a:extLst>
            </p:cNvPr>
            <p:cNvSpPr txBox="1"/>
            <p:nvPr/>
          </p:nvSpPr>
          <p:spPr>
            <a:xfrm>
              <a:off x="15174200" y="5425199"/>
              <a:ext cx="765746" cy="209499"/>
            </a:xfrm>
            <a:prstGeom prst="rect">
              <a:avLst/>
            </a:prstGeom>
            <a:noFill/>
          </p:spPr>
          <p:txBody>
            <a:bodyPr wrap="square" lIns="19736" rIns="19736" anchor="ctr">
              <a:spAutoFit/>
            </a:bodyPr>
            <a:lstStyle/>
            <a:p>
              <a:pPr algn="ctr"/>
              <a:r>
                <a:rPr sz="1200" dirty="0">
                  <a:solidFill>
                    <a:srgbClr val="14191E"/>
                  </a:solidFill>
                  <a:latin typeface="Aptos"/>
                </a:rPr>
                <a:t>24.0% / 48.8%</a:t>
              </a:r>
            </a:p>
          </p:txBody>
        </p:sp>
        <p:sp>
          <p:nvSpPr>
            <p:cNvPr id="605" name="Rectangle 603">
              <a:extLst>
                <a:ext uri="{FF2B5EF4-FFF2-40B4-BE49-F238E27FC236}">
                  <a16:creationId xmlns:a16="http://schemas.microsoft.com/office/drawing/2014/main" id="{386A1266-C7A9-B79D-B479-DF0326F6CBD6}"/>
                </a:ext>
              </a:extLst>
            </p:cNvPr>
            <p:cNvSpPr/>
            <p:nvPr/>
          </p:nvSpPr>
          <p:spPr>
            <a:xfrm>
              <a:off x="15951788" y="5407586"/>
              <a:ext cx="809164"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06" name="TextBox 604">
              <a:extLst>
                <a:ext uri="{FF2B5EF4-FFF2-40B4-BE49-F238E27FC236}">
                  <a16:creationId xmlns:a16="http://schemas.microsoft.com/office/drawing/2014/main" id="{F89DFD78-21D5-AD41-71CE-EACF41DFA584}"/>
                </a:ext>
              </a:extLst>
            </p:cNvPr>
            <p:cNvSpPr txBox="1"/>
            <p:nvPr/>
          </p:nvSpPr>
          <p:spPr>
            <a:xfrm>
              <a:off x="15963630" y="5425199"/>
              <a:ext cx="785481" cy="209499"/>
            </a:xfrm>
            <a:prstGeom prst="rect">
              <a:avLst/>
            </a:prstGeom>
            <a:noFill/>
          </p:spPr>
          <p:txBody>
            <a:bodyPr wrap="square" lIns="19736" rIns="19736" anchor="ctr">
              <a:spAutoFit/>
            </a:bodyPr>
            <a:lstStyle/>
            <a:p>
              <a:pPr algn="ctr"/>
              <a:r>
                <a:rPr sz="1200" dirty="0">
                  <a:solidFill>
                    <a:srgbClr val="14191E"/>
                  </a:solidFill>
                  <a:latin typeface="Aptos"/>
                </a:rPr>
                <a:t>43.8% / 71.1%</a:t>
              </a:r>
            </a:p>
          </p:txBody>
        </p:sp>
        <p:sp>
          <p:nvSpPr>
            <p:cNvPr id="607" name="Rectangle 605">
              <a:extLst>
                <a:ext uri="{FF2B5EF4-FFF2-40B4-BE49-F238E27FC236}">
                  <a16:creationId xmlns:a16="http://schemas.microsoft.com/office/drawing/2014/main" id="{E8891CDD-DDFB-A216-EF40-C7C3AA268DA2}"/>
                </a:ext>
              </a:extLst>
            </p:cNvPr>
            <p:cNvSpPr/>
            <p:nvPr/>
          </p:nvSpPr>
          <p:spPr>
            <a:xfrm>
              <a:off x="16760952" y="5407586"/>
              <a:ext cx="789428" cy="244723"/>
            </a:xfrm>
            <a:prstGeom prst="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08" name="TextBox 606">
              <a:extLst>
                <a:ext uri="{FF2B5EF4-FFF2-40B4-BE49-F238E27FC236}">
                  <a16:creationId xmlns:a16="http://schemas.microsoft.com/office/drawing/2014/main" id="{AAFD6ACE-8247-4A2C-618E-989774CB4A99}"/>
                </a:ext>
              </a:extLst>
            </p:cNvPr>
            <p:cNvSpPr txBox="1"/>
            <p:nvPr/>
          </p:nvSpPr>
          <p:spPr>
            <a:xfrm>
              <a:off x="16772793" y="5425199"/>
              <a:ext cx="765746" cy="209499"/>
            </a:xfrm>
            <a:prstGeom prst="rect">
              <a:avLst/>
            </a:prstGeom>
            <a:noFill/>
          </p:spPr>
          <p:txBody>
            <a:bodyPr wrap="square" lIns="19736" rIns="19736" anchor="ctr">
              <a:spAutoFit/>
            </a:bodyPr>
            <a:lstStyle/>
            <a:p>
              <a:pPr algn="ctr"/>
              <a:r>
                <a:rPr sz="1200" dirty="0">
                  <a:solidFill>
                    <a:srgbClr val="14191E"/>
                  </a:solidFill>
                  <a:latin typeface="Aptos"/>
                </a:rPr>
                <a:t>+19.8/+22.3 pp</a:t>
              </a:r>
            </a:p>
          </p:txBody>
        </p:sp>
      </p:grpSp>
      <p:grpSp>
        <p:nvGrpSpPr>
          <p:cNvPr id="62" name="Group 61">
            <a:extLst>
              <a:ext uri="{FF2B5EF4-FFF2-40B4-BE49-F238E27FC236}">
                <a16:creationId xmlns:a16="http://schemas.microsoft.com/office/drawing/2014/main" id="{B8D06494-9984-07B5-4711-F19515576D16}"/>
              </a:ext>
            </a:extLst>
          </p:cNvPr>
          <p:cNvGrpSpPr/>
          <p:nvPr/>
        </p:nvGrpSpPr>
        <p:grpSpPr>
          <a:xfrm>
            <a:off x="16187174" y="7937396"/>
            <a:ext cx="4976355" cy="2269749"/>
            <a:chOff x="16449128" y="9077349"/>
            <a:chExt cx="1211773" cy="2776670"/>
          </a:xfrm>
        </p:grpSpPr>
        <p:sp>
          <p:nvSpPr>
            <p:cNvPr id="153" name="Rounded Rectangle 152">
              <a:extLst>
                <a:ext uri="{FF2B5EF4-FFF2-40B4-BE49-F238E27FC236}">
                  <a16:creationId xmlns:a16="http://schemas.microsoft.com/office/drawing/2014/main" id="{6AC56351-F5F1-3156-DB91-532EFE3D2200}"/>
                </a:ext>
              </a:extLst>
            </p:cNvPr>
            <p:cNvSpPr/>
            <p:nvPr/>
          </p:nvSpPr>
          <p:spPr>
            <a:xfrm>
              <a:off x="16449128" y="9077349"/>
              <a:ext cx="1211773" cy="2716002"/>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54" name="TextBox 153">
              <a:extLst>
                <a:ext uri="{FF2B5EF4-FFF2-40B4-BE49-F238E27FC236}">
                  <a16:creationId xmlns:a16="http://schemas.microsoft.com/office/drawing/2014/main" id="{BC518A5F-29B3-32C0-25FC-9FA4902434F4}"/>
                </a:ext>
              </a:extLst>
            </p:cNvPr>
            <p:cNvSpPr txBox="1"/>
            <p:nvPr/>
          </p:nvSpPr>
          <p:spPr>
            <a:xfrm>
              <a:off x="16501331" y="9180765"/>
              <a:ext cx="1117104" cy="2673254"/>
            </a:xfrm>
            <a:prstGeom prst="rect">
              <a:avLst/>
            </a:prstGeom>
            <a:noFill/>
          </p:spPr>
          <p:txBody>
            <a:bodyPr wrap="square" lIns="19736" rIns="19736" anchor="t">
              <a:spAutoFit/>
            </a:bodyPr>
            <a:lstStyle/>
            <a:p>
              <a:pPr algn="l"/>
              <a:r>
                <a:rPr sz="1700" dirty="0">
                  <a:solidFill>
                    <a:srgbClr val="14191E"/>
                  </a:solidFill>
                  <a:latin typeface="Aptos"/>
                </a:rPr>
                <a:t>Our three-stage framework significantly improves next-day stock price prediction by integrating LLM-based news intelligence, ensemble deep learning, and error correction. The approach achieves a 12.5% relative improvement in R² and a 19.2-point gain in directional accuracy on the out-of-sample period.</a:t>
              </a:r>
            </a:p>
          </p:txBody>
        </p:sp>
      </p:grpSp>
      <p:grpSp>
        <p:nvGrpSpPr>
          <p:cNvPr id="64" name="Group 63">
            <a:extLst>
              <a:ext uri="{FF2B5EF4-FFF2-40B4-BE49-F238E27FC236}">
                <a16:creationId xmlns:a16="http://schemas.microsoft.com/office/drawing/2014/main" id="{0B530B8A-CDDF-4979-9210-F9D18FF62A12}"/>
              </a:ext>
            </a:extLst>
          </p:cNvPr>
          <p:cNvGrpSpPr/>
          <p:nvPr/>
        </p:nvGrpSpPr>
        <p:grpSpPr>
          <a:xfrm>
            <a:off x="16206295" y="11169336"/>
            <a:ext cx="4976355" cy="2893890"/>
            <a:chOff x="14147944" y="10357302"/>
            <a:chExt cx="3512957" cy="840004"/>
          </a:xfrm>
        </p:grpSpPr>
        <p:sp>
          <p:nvSpPr>
            <p:cNvPr id="157" name="Rounded Rectangle 156">
              <a:extLst>
                <a:ext uri="{FF2B5EF4-FFF2-40B4-BE49-F238E27FC236}">
                  <a16:creationId xmlns:a16="http://schemas.microsoft.com/office/drawing/2014/main" id="{BA0A9AE6-D394-53A6-DAB0-646CBB235C96}"/>
                </a:ext>
              </a:extLst>
            </p:cNvPr>
            <p:cNvSpPr/>
            <p:nvPr/>
          </p:nvSpPr>
          <p:spPr>
            <a:xfrm>
              <a:off x="14147944" y="10357302"/>
              <a:ext cx="3512957" cy="840004"/>
            </a:xfrm>
            <a:prstGeom prst="roundRect">
              <a:avLst/>
            </a:prstGeom>
            <a:solidFill>
              <a:srgbClr val="FFFFFF"/>
            </a:solidFill>
            <a:ln w="12700">
              <a:solidFill>
                <a:srgbClr val="BEC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58" name="TextBox 157">
              <a:extLst>
                <a:ext uri="{FF2B5EF4-FFF2-40B4-BE49-F238E27FC236}">
                  <a16:creationId xmlns:a16="http://schemas.microsoft.com/office/drawing/2014/main" id="{EED58881-4010-8B3B-9AFD-BDD5D81CCFAF}"/>
                </a:ext>
              </a:extLst>
            </p:cNvPr>
            <p:cNvSpPr txBox="1"/>
            <p:nvPr/>
          </p:nvSpPr>
          <p:spPr>
            <a:xfrm>
              <a:off x="14234781" y="10396243"/>
              <a:ext cx="3369670" cy="801062"/>
            </a:xfrm>
            <a:prstGeom prst="rect">
              <a:avLst/>
            </a:prstGeom>
            <a:noFill/>
          </p:spPr>
          <p:txBody>
            <a:bodyPr wrap="square" lIns="19736" rIns="19736" anchor="t">
              <a:spAutoFit/>
            </a:bodyPr>
            <a:lstStyle/>
            <a:p>
              <a:pPr algn="l">
                <a:spcAft>
                  <a:spcPts val="120"/>
                </a:spcAft>
              </a:pPr>
              <a:r>
                <a:rPr sz="1700" b="1" dirty="0">
                  <a:solidFill>
                    <a:srgbClr val="14191E"/>
                  </a:solidFill>
                  <a:latin typeface="Aptos"/>
                </a:rPr>
                <a:t>[1] </a:t>
              </a:r>
              <a:r>
                <a:rPr sz="1700" dirty="0">
                  <a:solidFill>
                    <a:srgbClr val="14191E"/>
                  </a:solidFill>
                  <a:latin typeface="Aptos"/>
                </a:rPr>
                <a:t>Devlin et al., BERT: Pre-training of Deep Bidirectional Transformers, NAACL 2019.</a:t>
              </a:r>
            </a:p>
            <a:p>
              <a:pPr algn="l">
                <a:spcAft>
                  <a:spcPts val="120"/>
                </a:spcAft>
              </a:pPr>
              <a:r>
                <a:rPr sz="1700" b="1" dirty="0">
                  <a:solidFill>
                    <a:srgbClr val="14191E"/>
                  </a:solidFill>
                  <a:latin typeface="Aptos"/>
                </a:rPr>
                <a:t>[2] </a:t>
              </a:r>
              <a:r>
                <a:rPr sz="1700" dirty="0">
                  <a:solidFill>
                    <a:srgbClr val="14191E"/>
                  </a:solidFill>
                  <a:latin typeface="Aptos"/>
                </a:rPr>
                <a:t>Hyndman &amp; Athanasopoulos, Forecasting: Principles and Practice, 3rd ed., 2021.</a:t>
              </a:r>
            </a:p>
            <a:p>
              <a:pPr algn="l">
                <a:spcAft>
                  <a:spcPts val="120"/>
                </a:spcAft>
              </a:pPr>
              <a:r>
                <a:rPr sz="1700" b="1" dirty="0">
                  <a:solidFill>
                    <a:srgbClr val="14191E"/>
                  </a:solidFill>
                  <a:latin typeface="Aptos"/>
                </a:rPr>
                <a:t>[3] </a:t>
              </a:r>
              <a:r>
                <a:rPr sz="1700" dirty="0">
                  <a:solidFill>
                    <a:srgbClr val="14191E"/>
                  </a:solidFill>
                  <a:latin typeface="Aptos"/>
                </a:rPr>
                <a:t>Hochreiter &amp; </a:t>
              </a:r>
              <a:r>
                <a:rPr sz="1700" dirty="0" err="1">
                  <a:solidFill>
                    <a:srgbClr val="14191E"/>
                  </a:solidFill>
                  <a:latin typeface="Aptos"/>
                </a:rPr>
                <a:t>Schmidhuber</a:t>
              </a:r>
              <a:r>
                <a:rPr sz="1700" dirty="0">
                  <a:solidFill>
                    <a:srgbClr val="14191E"/>
                  </a:solidFill>
                  <a:latin typeface="Aptos"/>
                </a:rPr>
                <a:t>, Long Short-Term Memory, Neural Computation, 1997.</a:t>
              </a:r>
            </a:p>
            <a:p>
              <a:pPr algn="l">
                <a:spcAft>
                  <a:spcPts val="120"/>
                </a:spcAft>
              </a:pPr>
              <a:r>
                <a:rPr sz="1700" b="1" dirty="0">
                  <a:solidFill>
                    <a:srgbClr val="14191E"/>
                  </a:solidFill>
                  <a:latin typeface="Aptos"/>
                </a:rPr>
                <a:t>[</a:t>
              </a:r>
              <a:r>
                <a:rPr lang="en-US" sz="1700" b="1" dirty="0">
                  <a:solidFill>
                    <a:srgbClr val="14191E"/>
                  </a:solidFill>
                  <a:latin typeface="Aptos"/>
                </a:rPr>
                <a:t>4</a:t>
              </a:r>
              <a:r>
                <a:rPr sz="1700" b="1" dirty="0">
                  <a:solidFill>
                    <a:srgbClr val="14191E"/>
                  </a:solidFill>
                  <a:latin typeface="Aptos"/>
                </a:rPr>
                <a:t>] </a:t>
              </a:r>
              <a:r>
                <a:rPr sz="1700" dirty="0" err="1">
                  <a:solidFill>
                    <a:srgbClr val="14191E"/>
                  </a:solidFill>
                  <a:latin typeface="Aptos"/>
                </a:rPr>
                <a:t>Breiman</a:t>
              </a:r>
              <a:r>
                <a:rPr sz="1700" dirty="0">
                  <a:solidFill>
                    <a:srgbClr val="14191E"/>
                  </a:solidFill>
                  <a:latin typeface="Aptos"/>
                </a:rPr>
                <a:t>, Random Forests, Machine Learning, 2001.</a:t>
              </a:r>
            </a:p>
            <a:p>
              <a:pPr algn="l">
                <a:spcAft>
                  <a:spcPts val="120"/>
                </a:spcAft>
              </a:pPr>
              <a:r>
                <a:rPr sz="1700" b="1" dirty="0">
                  <a:solidFill>
                    <a:srgbClr val="14191E"/>
                  </a:solidFill>
                  <a:latin typeface="Aptos"/>
                </a:rPr>
                <a:t>[</a:t>
              </a:r>
              <a:r>
                <a:rPr lang="en-US" sz="1700" b="1" dirty="0">
                  <a:solidFill>
                    <a:srgbClr val="14191E"/>
                  </a:solidFill>
                  <a:latin typeface="Aptos"/>
                </a:rPr>
                <a:t>5</a:t>
              </a:r>
              <a:r>
                <a:rPr sz="1700" b="1" dirty="0">
                  <a:solidFill>
                    <a:srgbClr val="14191E"/>
                  </a:solidFill>
                  <a:latin typeface="Aptos"/>
                </a:rPr>
                <a:t>] </a:t>
              </a:r>
              <a:r>
                <a:rPr sz="1700" dirty="0">
                  <a:solidFill>
                    <a:srgbClr val="14191E"/>
                  </a:solidFill>
                  <a:latin typeface="Aptos"/>
                </a:rPr>
                <a:t>Mallat, A Wavelet Tour of Signal Processing, 3rd ed., 2008.</a:t>
              </a:r>
            </a:p>
          </p:txBody>
        </p:sp>
      </p:grpSp>
      <p:grpSp>
        <p:nvGrpSpPr>
          <p:cNvPr id="13" name="Group 12">
            <a:extLst>
              <a:ext uri="{FF2B5EF4-FFF2-40B4-BE49-F238E27FC236}">
                <a16:creationId xmlns:a16="http://schemas.microsoft.com/office/drawing/2014/main" id="{A8836C8A-7971-AE74-AEFF-6C10862BCBAF}"/>
              </a:ext>
            </a:extLst>
          </p:cNvPr>
          <p:cNvGrpSpPr/>
          <p:nvPr/>
        </p:nvGrpSpPr>
        <p:grpSpPr>
          <a:xfrm>
            <a:off x="0" y="-2"/>
            <a:ext cx="21388387" cy="1864110"/>
            <a:chOff x="3589336" y="2367221"/>
            <a:chExt cx="14209715" cy="1323358"/>
          </a:xfrm>
        </p:grpSpPr>
        <p:sp>
          <p:nvSpPr>
            <p:cNvPr id="2" name="Rectangle 1">
              <a:extLst>
                <a:ext uri="{FF2B5EF4-FFF2-40B4-BE49-F238E27FC236}">
                  <a16:creationId xmlns:a16="http://schemas.microsoft.com/office/drawing/2014/main" id="{ECC5B301-A97A-2DD0-A4E9-C354BF2EF351}"/>
                </a:ext>
              </a:extLst>
            </p:cNvPr>
            <p:cNvSpPr/>
            <p:nvPr/>
          </p:nvSpPr>
          <p:spPr>
            <a:xfrm>
              <a:off x="3589338" y="2368286"/>
              <a:ext cx="14209713" cy="1322293"/>
            </a:xfrm>
            <a:prstGeom prst="rect">
              <a:avLst/>
            </a:prstGeom>
            <a:solidFill>
              <a:srgbClr val="041732"/>
            </a:solidFill>
            <a:ln w="12700">
              <a:solidFill>
                <a:srgbClr val="041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8" name="TextBox 7">
              <a:extLst>
                <a:ext uri="{FF2B5EF4-FFF2-40B4-BE49-F238E27FC236}">
                  <a16:creationId xmlns:a16="http://schemas.microsoft.com/office/drawing/2014/main" id="{16FB5EAE-CCDB-4AF2-1A5C-9E182C4017B1}"/>
                </a:ext>
              </a:extLst>
            </p:cNvPr>
            <p:cNvSpPr txBox="1"/>
            <p:nvPr/>
          </p:nvSpPr>
          <p:spPr>
            <a:xfrm>
              <a:off x="5410516" y="2423383"/>
              <a:ext cx="11070684" cy="852130"/>
            </a:xfrm>
            <a:prstGeom prst="rect">
              <a:avLst/>
            </a:prstGeom>
            <a:noFill/>
          </p:spPr>
          <p:txBody>
            <a:bodyPr wrap="square" lIns="19736" rIns="19736" anchor="ctr">
              <a:spAutoFit/>
            </a:bodyPr>
            <a:lstStyle/>
            <a:p>
              <a:pPr algn="ctr"/>
              <a:r>
                <a:rPr sz="3600" b="1" dirty="0">
                  <a:solidFill>
                    <a:srgbClr val="FFFFFF"/>
                  </a:solidFill>
                  <a:latin typeface="Aptos"/>
                </a:rPr>
                <a:t>A Multi-Stage Deep Learning Framework for</a:t>
              </a:r>
              <a:r>
                <a:rPr lang="en-US" sz="3600" b="1" dirty="0">
                  <a:solidFill>
                    <a:srgbClr val="FFFFFF"/>
                  </a:solidFill>
                  <a:latin typeface="Aptos"/>
                </a:rPr>
                <a:t> </a:t>
              </a:r>
              <a:r>
                <a:rPr sz="3600" b="1" dirty="0">
                  <a:solidFill>
                    <a:srgbClr val="FFFFFF"/>
                  </a:solidFill>
                  <a:latin typeface="Aptos"/>
                </a:rPr>
                <a:t>Stock Price Prediction 
</a:t>
              </a:r>
              <a:r>
                <a:rPr lang="en-US" sz="3600" b="1" dirty="0">
                  <a:solidFill>
                    <a:srgbClr val="FFFFFF"/>
                  </a:solidFill>
                  <a:latin typeface="Aptos"/>
                </a:rPr>
                <a:t> Using LLM-Based </a:t>
              </a:r>
              <a:r>
                <a:rPr sz="3600" b="1" dirty="0">
                  <a:solidFill>
                    <a:srgbClr val="FFFFFF"/>
                  </a:solidFill>
                  <a:latin typeface="Aptos"/>
                </a:rPr>
                <a:t>News Intelligence and Error Correction</a:t>
              </a:r>
            </a:p>
          </p:txBody>
        </p:sp>
        <p:sp>
          <p:nvSpPr>
            <p:cNvPr id="9" name="TextBox 8">
              <a:extLst>
                <a:ext uri="{FF2B5EF4-FFF2-40B4-BE49-F238E27FC236}">
                  <a16:creationId xmlns:a16="http://schemas.microsoft.com/office/drawing/2014/main" id="{32BA3038-7F5B-A792-0C99-9808FA3B7D85}"/>
                </a:ext>
              </a:extLst>
            </p:cNvPr>
            <p:cNvSpPr txBox="1"/>
            <p:nvPr/>
          </p:nvSpPr>
          <p:spPr>
            <a:xfrm>
              <a:off x="7318046" y="3286293"/>
              <a:ext cx="6315428" cy="371441"/>
            </a:xfrm>
            <a:prstGeom prst="rect">
              <a:avLst/>
            </a:prstGeom>
            <a:noFill/>
          </p:spPr>
          <p:txBody>
            <a:bodyPr wrap="square" lIns="19736" rIns="19736" anchor="ctr">
              <a:spAutoFit/>
            </a:bodyPr>
            <a:lstStyle/>
            <a:p>
              <a:pPr algn="ctr"/>
              <a:r>
                <a:rPr sz="2800" b="1" dirty="0">
                  <a:solidFill>
                    <a:srgbClr val="FABE28"/>
                  </a:solidFill>
                  <a:latin typeface="Aptos"/>
                </a:rPr>
                <a:t>Alok Yadav,</a:t>
              </a:r>
              <a:r>
                <a:rPr lang="en-US" sz="2800" b="1" dirty="0">
                  <a:solidFill>
                    <a:srgbClr val="FABE28"/>
                  </a:solidFill>
                  <a:latin typeface="Aptos"/>
                </a:rPr>
                <a:t> Dr. </a:t>
              </a:r>
              <a:r>
                <a:rPr sz="2800" b="1" dirty="0">
                  <a:solidFill>
                    <a:srgbClr val="FABE28"/>
                  </a:solidFill>
                  <a:latin typeface="Aptos"/>
                </a:rPr>
                <a:t>Bhupendra Kumar</a:t>
              </a:r>
            </a:p>
          </p:txBody>
        </p:sp>
        <p:pic>
          <p:nvPicPr>
            <p:cNvPr id="171" name="Picture 170">
              <a:extLst>
                <a:ext uri="{FF2B5EF4-FFF2-40B4-BE49-F238E27FC236}">
                  <a16:creationId xmlns:a16="http://schemas.microsoft.com/office/drawing/2014/main" id="{9A8A74C0-E890-483D-684B-29CE4C9311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9336" y="2367221"/>
              <a:ext cx="1439864" cy="1322294"/>
            </a:xfrm>
            <a:prstGeom prst="rect">
              <a:avLst/>
            </a:prstGeom>
          </p:spPr>
        </p:pic>
      </p:grpSp>
      <p:grpSp>
        <p:nvGrpSpPr>
          <p:cNvPr id="54" name="Group 53">
            <a:extLst>
              <a:ext uri="{FF2B5EF4-FFF2-40B4-BE49-F238E27FC236}">
                <a16:creationId xmlns:a16="http://schemas.microsoft.com/office/drawing/2014/main" id="{C955A0BA-A011-3305-2042-68DE5CD0A34E}"/>
              </a:ext>
            </a:extLst>
          </p:cNvPr>
          <p:cNvGrpSpPr/>
          <p:nvPr/>
        </p:nvGrpSpPr>
        <p:grpSpPr>
          <a:xfrm>
            <a:off x="5717344" y="2853743"/>
            <a:ext cx="9921272" cy="5851522"/>
            <a:chOff x="7003616" y="4040908"/>
            <a:chExt cx="6986443" cy="3861294"/>
          </a:xfrm>
        </p:grpSpPr>
        <p:grpSp>
          <p:nvGrpSpPr>
            <p:cNvPr id="44" name="Group 43">
              <a:extLst>
                <a:ext uri="{FF2B5EF4-FFF2-40B4-BE49-F238E27FC236}">
                  <a16:creationId xmlns:a16="http://schemas.microsoft.com/office/drawing/2014/main" id="{2C7B104A-9B66-DCBC-B2B8-30B97B6C6F5F}"/>
                </a:ext>
              </a:extLst>
            </p:cNvPr>
            <p:cNvGrpSpPr/>
            <p:nvPr/>
          </p:nvGrpSpPr>
          <p:grpSpPr>
            <a:xfrm>
              <a:off x="7003616" y="4046927"/>
              <a:ext cx="2210400" cy="3831592"/>
              <a:chOff x="7003616" y="4046927"/>
              <a:chExt cx="2210400" cy="3831592"/>
            </a:xfrm>
          </p:grpSpPr>
          <p:sp>
            <p:nvSpPr>
              <p:cNvPr id="29" name="Rounded Rectangle 28">
                <a:extLst>
                  <a:ext uri="{FF2B5EF4-FFF2-40B4-BE49-F238E27FC236}">
                    <a16:creationId xmlns:a16="http://schemas.microsoft.com/office/drawing/2014/main" id="{F3F4871D-F976-8826-EE34-5DAEA2A07D1E}"/>
                  </a:ext>
                </a:extLst>
              </p:cNvPr>
              <p:cNvSpPr/>
              <p:nvPr/>
            </p:nvSpPr>
            <p:spPr>
              <a:xfrm>
                <a:off x="7003616" y="4053715"/>
                <a:ext cx="2210400" cy="3824804"/>
              </a:xfrm>
              <a:prstGeom prst="roundRect">
                <a:avLst/>
              </a:prstGeom>
              <a:solidFill>
                <a:srgbClr val="EDF8F6"/>
              </a:solidFill>
              <a:ln w="12700">
                <a:solidFill>
                  <a:srgbClr val="1B85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30" name="Rounded Rectangle 29">
                <a:extLst>
                  <a:ext uri="{FF2B5EF4-FFF2-40B4-BE49-F238E27FC236}">
                    <a16:creationId xmlns:a16="http://schemas.microsoft.com/office/drawing/2014/main" id="{55D52052-94BE-4D43-D2C1-E358556844E2}"/>
                  </a:ext>
                </a:extLst>
              </p:cNvPr>
              <p:cNvSpPr/>
              <p:nvPr/>
            </p:nvSpPr>
            <p:spPr>
              <a:xfrm>
                <a:off x="7003616" y="4053716"/>
                <a:ext cx="2210400" cy="307877"/>
              </a:xfrm>
              <a:prstGeom prst="roundRect">
                <a:avLst/>
              </a:prstGeom>
              <a:solidFill>
                <a:srgbClr val="1B8580"/>
              </a:solidFill>
              <a:ln w="12700">
                <a:solidFill>
                  <a:srgbClr val="1B85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31" name="TextBox 30">
                <a:extLst>
                  <a:ext uri="{FF2B5EF4-FFF2-40B4-BE49-F238E27FC236}">
                    <a16:creationId xmlns:a16="http://schemas.microsoft.com/office/drawing/2014/main" id="{09577063-EBC3-1C0C-057E-B6E5CD920ACC}"/>
                  </a:ext>
                </a:extLst>
              </p:cNvPr>
              <p:cNvSpPr txBox="1"/>
              <p:nvPr/>
            </p:nvSpPr>
            <p:spPr>
              <a:xfrm>
                <a:off x="7043088" y="4046927"/>
                <a:ext cx="2131457" cy="182786"/>
              </a:xfrm>
              <a:prstGeom prst="rect">
                <a:avLst/>
              </a:prstGeom>
              <a:noFill/>
            </p:spPr>
            <p:txBody>
              <a:bodyPr wrap="square" lIns="19736" rIns="19736" anchor="t">
                <a:spAutoFit/>
              </a:bodyPr>
              <a:lstStyle/>
              <a:p>
                <a:pPr algn="ctr"/>
                <a:r>
                  <a:rPr sz="1200" b="1" dirty="0">
                    <a:solidFill>
                      <a:srgbClr val="FFFFFF"/>
                    </a:solidFill>
                    <a:latin typeface="Aptos"/>
                  </a:rPr>
                  <a:t>STAGE 1</a:t>
                </a:r>
              </a:p>
            </p:txBody>
          </p:sp>
          <p:sp>
            <p:nvSpPr>
              <p:cNvPr id="32" name="TextBox 31">
                <a:extLst>
                  <a:ext uri="{FF2B5EF4-FFF2-40B4-BE49-F238E27FC236}">
                    <a16:creationId xmlns:a16="http://schemas.microsoft.com/office/drawing/2014/main" id="{43DC2C25-5ADA-AAFC-814E-1F38195C5497}"/>
                  </a:ext>
                </a:extLst>
              </p:cNvPr>
              <p:cNvSpPr txBox="1"/>
              <p:nvPr/>
            </p:nvSpPr>
            <p:spPr>
              <a:xfrm>
                <a:off x="7056448" y="4173859"/>
                <a:ext cx="2147245" cy="223405"/>
              </a:xfrm>
              <a:prstGeom prst="rect">
                <a:avLst/>
              </a:prstGeom>
              <a:noFill/>
            </p:spPr>
            <p:txBody>
              <a:bodyPr wrap="square" lIns="19736" rIns="19736" anchor="t">
                <a:spAutoFit/>
              </a:bodyPr>
              <a:lstStyle/>
              <a:p>
                <a:pPr algn="ctr"/>
                <a:r>
                  <a:rPr sz="800" b="1" dirty="0">
                    <a:solidFill>
                      <a:srgbClr val="FFFFFF"/>
                    </a:solidFill>
                    <a:latin typeface="Aptos"/>
                  </a:rPr>
                  <a:t>News Intelligence Extraction
(LLM + Vector Database)</a:t>
                </a:r>
              </a:p>
            </p:txBody>
          </p:sp>
          <p:pic>
            <p:nvPicPr>
              <p:cNvPr id="167" name="Picture 166">
                <a:extLst>
                  <a:ext uri="{FF2B5EF4-FFF2-40B4-BE49-F238E27FC236}">
                    <a16:creationId xmlns:a16="http://schemas.microsoft.com/office/drawing/2014/main" id="{CD2CE4CB-9002-CE7E-FD50-85E73A72745D}"/>
                  </a:ext>
                </a:extLst>
              </p:cNvPr>
              <p:cNvPicPr>
                <a:picLocks noChangeAspect="1"/>
              </p:cNvPicPr>
              <p:nvPr/>
            </p:nvPicPr>
            <p:blipFill>
              <a:blip r:embed="rId3"/>
              <a:stretch>
                <a:fillRect/>
              </a:stretch>
            </p:blipFill>
            <p:spPr>
              <a:xfrm>
                <a:off x="7117408" y="4434898"/>
                <a:ext cx="1959815" cy="3092364"/>
              </a:xfrm>
              <a:prstGeom prst="rect">
                <a:avLst/>
              </a:prstGeom>
            </p:spPr>
          </p:pic>
        </p:grpSp>
        <p:grpSp>
          <p:nvGrpSpPr>
            <p:cNvPr id="45" name="Group 44">
              <a:extLst>
                <a:ext uri="{FF2B5EF4-FFF2-40B4-BE49-F238E27FC236}">
                  <a16:creationId xmlns:a16="http://schemas.microsoft.com/office/drawing/2014/main" id="{EC90A218-7DE9-D8AB-101F-CBAAD297BB96}"/>
                </a:ext>
              </a:extLst>
            </p:cNvPr>
            <p:cNvGrpSpPr/>
            <p:nvPr/>
          </p:nvGrpSpPr>
          <p:grpSpPr>
            <a:xfrm>
              <a:off x="9306031" y="4040908"/>
              <a:ext cx="2307424" cy="3861294"/>
              <a:chOff x="9306031" y="4040908"/>
              <a:chExt cx="2307424" cy="3861294"/>
            </a:xfrm>
          </p:grpSpPr>
          <p:sp>
            <p:nvSpPr>
              <p:cNvPr id="47" name="Rounded Rectangle 46">
                <a:extLst>
                  <a:ext uri="{FF2B5EF4-FFF2-40B4-BE49-F238E27FC236}">
                    <a16:creationId xmlns:a16="http://schemas.microsoft.com/office/drawing/2014/main" id="{D441F44E-4369-F360-DB7C-025D3A22158D}"/>
                  </a:ext>
                </a:extLst>
              </p:cNvPr>
              <p:cNvSpPr/>
              <p:nvPr/>
            </p:nvSpPr>
            <p:spPr>
              <a:xfrm>
                <a:off x="9403055" y="4077398"/>
                <a:ext cx="2210400" cy="3824804"/>
              </a:xfrm>
              <a:prstGeom prst="roundRect">
                <a:avLst/>
              </a:prstGeom>
              <a:solidFill>
                <a:srgbClr val="EDF5FD"/>
              </a:solidFill>
              <a:ln w="12700">
                <a:solidFill>
                  <a:srgbClr val="1F6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48" name="Rounded Rectangle 47">
                <a:extLst>
                  <a:ext uri="{FF2B5EF4-FFF2-40B4-BE49-F238E27FC236}">
                    <a16:creationId xmlns:a16="http://schemas.microsoft.com/office/drawing/2014/main" id="{909899EF-4403-70D9-B5D0-D7E70F210B2E}"/>
                  </a:ext>
                </a:extLst>
              </p:cNvPr>
              <p:cNvSpPr/>
              <p:nvPr/>
            </p:nvSpPr>
            <p:spPr>
              <a:xfrm>
                <a:off x="9385626" y="4053716"/>
                <a:ext cx="2210400" cy="307877"/>
              </a:xfrm>
              <a:prstGeom prst="roundRect">
                <a:avLst/>
              </a:prstGeom>
              <a:solidFill>
                <a:srgbClr val="1F65A9"/>
              </a:solidFill>
              <a:ln w="12700">
                <a:solidFill>
                  <a:srgbClr val="1F65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49" name="TextBox 48">
                <a:extLst>
                  <a:ext uri="{FF2B5EF4-FFF2-40B4-BE49-F238E27FC236}">
                    <a16:creationId xmlns:a16="http://schemas.microsoft.com/office/drawing/2014/main" id="{DC51EC2E-D395-431B-B553-743BF0314873}"/>
                  </a:ext>
                </a:extLst>
              </p:cNvPr>
              <p:cNvSpPr txBox="1"/>
              <p:nvPr/>
            </p:nvSpPr>
            <p:spPr>
              <a:xfrm>
                <a:off x="9306031" y="4040908"/>
                <a:ext cx="2131457" cy="182786"/>
              </a:xfrm>
              <a:prstGeom prst="rect">
                <a:avLst/>
              </a:prstGeom>
              <a:noFill/>
            </p:spPr>
            <p:txBody>
              <a:bodyPr wrap="square" lIns="19736" rIns="19736" anchor="t">
                <a:spAutoFit/>
              </a:bodyPr>
              <a:lstStyle/>
              <a:p>
                <a:pPr algn="ctr"/>
                <a:r>
                  <a:rPr sz="1200" b="1" dirty="0">
                    <a:solidFill>
                      <a:srgbClr val="FFFFFF"/>
                    </a:solidFill>
                    <a:latin typeface="Aptos"/>
                  </a:rPr>
                  <a:t>STAGE 2</a:t>
                </a:r>
              </a:p>
            </p:txBody>
          </p:sp>
          <p:sp>
            <p:nvSpPr>
              <p:cNvPr id="50" name="TextBox 49">
                <a:extLst>
                  <a:ext uri="{FF2B5EF4-FFF2-40B4-BE49-F238E27FC236}">
                    <a16:creationId xmlns:a16="http://schemas.microsoft.com/office/drawing/2014/main" id="{863AA30D-D145-F22A-BCD7-28416FDA55E4}"/>
                  </a:ext>
                </a:extLst>
              </p:cNvPr>
              <p:cNvSpPr txBox="1"/>
              <p:nvPr/>
            </p:nvSpPr>
            <p:spPr>
              <a:xfrm>
                <a:off x="9385289" y="4155237"/>
                <a:ext cx="2147245" cy="223405"/>
              </a:xfrm>
              <a:prstGeom prst="rect">
                <a:avLst/>
              </a:prstGeom>
              <a:noFill/>
            </p:spPr>
            <p:txBody>
              <a:bodyPr wrap="square" lIns="19736" rIns="19736" anchor="t">
                <a:spAutoFit/>
              </a:bodyPr>
              <a:lstStyle/>
              <a:p>
                <a:pPr algn="ctr"/>
                <a:r>
                  <a:rPr sz="800" b="1" dirty="0">
                    <a:solidFill>
                      <a:srgbClr val="FFFFFF"/>
                    </a:solidFill>
                    <a:latin typeface="Aptos"/>
                  </a:rPr>
                  <a:t>Price Movement Prediction
(Ensemble Deep Learning)</a:t>
                </a:r>
              </a:p>
            </p:txBody>
          </p:sp>
          <p:pic>
            <p:nvPicPr>
              <p:cNvPr id="169" name="Picture 168">
                <a:extLst>
                  <a:ext uri="{FF2B5EF4-FFF2-40B4-BE49-F238E27FC236}">
                    <a16:creationId xmlns:a16="http://schemas.microsoft.com/office/drawing/2014/main" id="{83226E87-1470-7DAC-C910-F385D54659E1}"/>
                  </a:ext>
                </a:extLst>
              </p:cNvPr>
              <p:cNvPicPr>
                <a:picLocks noChangeAspect="1"/>
              </p:cNvPicPr>
              <p:nvPr/>
            </p:nvPicPr>
            <p:blipFill>
              <a:blip r:embed="rId4"/>
              <a:stretch>
                <a:fillRect/>
              </a:stretch>
            </p:blipFill>
            <p:spPr>
              <a:xfrm>
                <a:off x="9443486" y="4469223"/>
                <a:ext cx="2051714" cy="3223420"/>
              </a:xfrm>
              <a:prstGeom prst="rect">
                <a:avLst/>
              </a:prstGeom>
            </p:spPr>
          </p:pic>
        </p:grpSp>
        <p:grpSp>
          <p:nvGrpSpPr>
            <p:cNvPr id="46" name="Group 45">
              <a:extLst>
                <a:ext uri="{FF2B5EF4-FFF2-40B4-BE49-F238E27FC236}">
                  <a16:creationId xmlns:a16="http://schemas.microsoft.com/office/drawing/2014/main" id="{2AEC209A-34F4-B12F-571B-C5818DFE6E2A}"/>
                </a:ext>
              </a:extLst>
            </p:cNvPr>
            <p:cNvGrpSpPr/>
            <p:nvPr/>
          </p:nvGrpSpPr>
          <p:grpSpPr>
            <a:xfrm>
              <a:off x="11779659" y="4066788"/>
              <a:ext cx="2210400" cy="3835414"/>
              <a:chOff x="11700715" y="4043105"/>
              <a:chExt cx="2210400" cy="3835414"/>
            </a:xfrm>
          </p:grpSpPr>
          <p:sp>
            <p:nvSpPr>
              <p:cNvPr id="65" name="Rounded Rectangle 64">
                <a:extLst>
                  <a:ext uri="{FF2B5EF4-FFF2-40B4-BE49-F238E27FC236}">
                    <a16:creationId xmlns:a16="http://schemas.microsoft.com/office/drawing/2014/main" id="{80A7195B-4EE9-E48A-ECAB-EC911A1ABCAC}"/>
                  </a:ext>
                </a:extLst>
              </p:cNvPr>
              <p:cNvSpPr/>
              <p:nvPr/>
            </p:nvSpPr>
            <p:spPr>
              <a:xfrm>
                <a:off x="11700715" y="4053715"/>
                <a:ext cx="2210400" cy="3824804"/>
              </a:xfrm>
              <a:prstGeom prst="roundRect">
                <a:avLst/>
              </a:prstGeom>
              <a:solidFill>
                <a:srgbClr val="F7F2FA"/>
              </a:solidFill>
              <a:ln w="12700">
                <a:solidFill>
                  <a:srgbClr val="694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6" name="Rounded Rectangle 65">
                <a:extLst>
                  <a:ext uri="{FF2B5EF4-FFF2-40B4-BE49-F238E27FC236}">
                    <a16:creationId xmlns:a16="http://schemas.microsoft.com/office/drawing/2014/main" id="{F364CE10-A744-764D-4034-EBD29424A1D5}"/>
                  </a:ext>
                </a:extLst>
              </p:cNvPr>
              <p:cNvSpPr/>
              <p:nvPr/>
            </p:nvSpPr>
            <p:spPr>
              <a:xfrm>
                <a:off x="11700715" y="4053716"/>
                <a:ext cx="2210400" cy="307877"/>
              </a:xfrm>
              <a:prstGeom prst="roundRect">
                <a:avLst/>
              </a:prstGeom>
              <a:solidFill>
                <a:srgbClr val="694696"/>
              </a:solidFill>
              <a:ln w="12700">
                <a:solidFill>
                  <a:srgbClr val="694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a:p>
            </p:txBody>
          </p:sp>
          <p:sp>
            <p:nvSpPr>
              <p:cNvPr id="67" name="TextBox 66">
                <a:extLst>
                  <a:ext uri="{FF2B5EF4-FFF2-40B4-BE49-F238E27FC236}">
                    <a16:creationId xmlns:a16="http://schemas.microsoft.com/office/drawing/2014/main" id="{13426153-1F94-217C-3D96-987384E39672}"/>
                  </a:ext>
                </a:extLst>
              </p:cNvPr>
              <p:cNvSpPr txBox="1"/>
              <p:nvPr/>
            </p:nvSpPr>
            <p:spPr>
              <a:xfrm>
                <a:off x="11740188" y="4043105"/>
                <a:ext cx="2131457" cy="182786"/>
              </a:xfrm>
              <a:prstGeom prst="rect">
                <a:avLst/>
              </a:prstGeom>
              <a:noFill/>
            </p:spPr>
            <p:txBody>
              <a:bodyPr wrap="square" lIns="19736" rIns="19736" anchor="t">
                <a:spAutoFit/>
              </a:bodyPr>
              <a:lstStyle/>
              <a:p>
                <a:pPr algn="ctr"/>
                <a:r>
                  <a:rPr sz="1200" b="1" dirty="0">
                    <a:solidFill>
                      <a:srgbClr val="FFFFFF"/>
                    </a:solidFill>
                    <a:latin typeface="Aptos"/>
                  </a:rPr>
                  <a:t>STAGE 3</a:t>
                </a:r>
              </a:p>
            </p:txBody>
          </p:sp>
          <p:sp>
            <p:nvSpPr>
              <p:cNvPr id="68" name="TextBox 67">
                <a:extLst>
                  <a:ext uri="{FF2B5EF4-FFF2-40B4-BE49-F238E27FC236}">
                    <a16:creationId xmlns:a16="http://schemas.microsoft.com/office/drawing/2014/main" id="{5C87354A-07BA-3554-AC78-09084A040D9A}"/>
                  </a:ext>
                </a:extLst>
              </p:cNvPr>
              <p:cNvSpPr txBox="1"/>
              <p:nvPr/>
            </p:nvSpPr>
            <p:spPr>
              <a:xfrm>
                <a:off x="11732294" y="4150176"/>
                <a:ext cx="2147245" cy="243714"/>
              </a:xfrm>
              <a:prstGeom prst="rect">
                <a:avLst/>
              </a:prstGeom>
              <a:noFill/>
            </p:spPr>
            <p:txBody>
              <a:bodyPr wrap="square" lIns="19736" rIns="19736" anchor="t">
                <a:spAutoFit/>
              </a:bodyPr>
              <a:lstStyle/>
              <a:p>
                <a:pPr algn="ctr"/>
                <a:r>
                  <a:rPr sz="900" b="1" dirty="0">
                    <a:solidFill>
                      <a:srgbClr val="FFFFFF"/>
                    </a:solidFill>
                    <a:latin typeface="Aptos"/>
                  </a:rPr>
                  <a:t>Error Correction
(Random Forest Regressor)</a:t>
                </a:r>
              </a:p>
            </p:txBody>
          </p:sp>
          <p:pic>
            <p:nvPicPr>
              <p:cNvPr id="173" name="Picture 172">
                <a:extLst>
                  <a:ext uri="{FF2B5EF4-FFF2-40B4-BE49-F238E27FC236}">
                    <a16:creationId xmlns:a16="http://schemas.microsoft.com/office/drawing/2014/main" id="{A519EAFF-1CC3-7425-1A6C-311958BD9E24}"/>
                  </a:ext>
                </a:extLst>
              </p:cNvPr>
              <p:cNvPicPr>
                <a:picLocks noChangeAspect="1"/>
              </p:cNvPicPr>
              <p:nvPr/>
            </p:nvPicPr>
            <p:blipFill>
              <a:blip r:embed="rId5"/>
              <a:stretch>
                <a:fillRect/>
              </a:stretch>
            </p:blipFill>
            <p:spPr>
              <a:xfrm>
                <a:off x="11763379" y="4539603"/>
                <a:ext cx="2030309" cy="2488837"/>
              </a:xfrm>
              <a:prstGeom prst="rect">
                <a:avLst/>
              </a:prstGeom>
            </p:spPr>
          </p:pic>
        </p:grpSp>
      </p:grpSp>
      <p:grpSp>
        <p:nvGrpSpPr>
          <p:cNvPr id="55" name="Group 54">
            <a:extLst>
              <a:ext uri="{FF2B5EF4-FFF2-40B4-BE49-F238E27FC236}">
                <a16:creationId xmlns:a16="http://schemas.microsoft.com/office/drawing/2014/main" id="{AD0896DC-331E-7FF3-2029-D098C3189EDC}"/>
              </a:ext>
            </a:extLst>
          </p:cNvPr>
          <p:cNvGrpSpPr/>
          <p:nvPr/>
        </p:nvGrpSpPr>
        <p:grpSpPr>
          <a:xfrm>
            <a:off x="161859" y="6601828"/>
            <a:ext cx="5040710" cy="601125"/>
            <a:chOff x="3589338" y="7903433"/>
            <a:chExt cx="3059035" cy="217093"/>
          </a:xfrm>
        </p:grpSpPr>
        <p:sp>
          <p:nvSpPr>
            <p:cNvPr id="56" name="Rounded Rectangle 21">
              <a:extLst>
                <a:ext uri="{FF2B5EF4-FFF2-40B4-BE49-F238E27FC236}">
                  <a16:creationId xmlns:a16="http://schemas.microsoft.com/office/drawing/2014/main" id="{7EA097F5-40EB-DF62-AC18-7FF9565AD99F}"/>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57" name="TextBox 56">
              <a:extLst>
                <a:ext uri="{FF2B5EF4-FFF2-40B4-BE49-F238E27FC236}">
                  <a16:creationId xmlns:a16="http://schemas.microsoft.com/office/drawing/2014/main" id="{B97D6527-7D45-493C-7F30-41D561DC8B65}"/>
                </a:ext>
              </a:extLst>
            </p:cNvPr>
            <p:cNvSpPr txBox="1"/>
            <p:nvPr/>
          </p:nvSpPr>
          <p:spPr>
            <a:xfrm>
              <a:off x="3650031" y="7932470"/>
              <a:ext cx="1953210" cy="155612"/>
            </a:xfrm>
            <a:prstGeom prst="rect">
              <a:avLst/>
            </a:prstGeom>
            <a:noFill/>
          </p:spPr>
          <p:txBody>
            <a:bodyPr wrap="square" lIns="19736" rIns="19736" anchor="ctr">
              <a:spAutoFit/>
            </a:bodyPr>
            <a:lstStyle/>
            <a:p>
              <a:pPr algn="l"/>
              <a:r>
                <a:rPr lang="en-US" sz="2200" b="1" dirty="0">
                  <a:solidFill>
                    <a:srgbClr val="FFFFFF"/>
                  </a:solidFill>
                  <a:latin typeface="Aptos"/>
                </a:rPr>
                <a:t>2. </a:t>
              </a:r>
              <a:r>
                <a:rPr sz="2200" b="1" dirty="0">
                  <a:solidFill>
                    <a:srgbClr val="FFFFFF"/>
                  </a:solidFill>
                  <a:latin typeface="Aptos"/>
                </a:rPr>
                <a:t>DATASET &amp; PERIOD</a:t>
              </a:r>
            </a:p>
          </p:txBody>
        </p:sp>
      </p:grpSp>
      <p:grpSp>
        <p:nvGrpSpPr>
          <p:cNvPr id="69" name="Group 68">
            <a:extLst>
              <a:ext uri="{FF2B5EF4-FFF2-40B4-BE49-F238E27FC236}">
                <a16:creationId xmlns:a16="http://schemas.microsoft.com/office/drawing/2014/main" id="{049E8B1E-AA8D-53CA-15DC-77A5FBEA7E3F}"/>
              </a:ext>
            </a:extLst>
          </p:cNvPr>
          <p:cNvGrpSpPr/>
          <p:nvPr/>
        </p:nvGrpSpPr>
        <p:grpSpPr>
          <a:xfrm>
            <a:off x="5717344" y="8838398"/>
            <a:ext cx="10535088" cy="601124"/>
            <a:chOff x="3589338" y="7903433"/>
            <a:chExt cx="2972837" cy="217093"/>
          </a:xfrm>
        </p:grpSpPr>
        <p:sp>
          <p:nvSpPr>
            <p:cNvPr id="70" name="Rounded Rectangle 21">
              <a:extLst>
                <a:ext uri="{FF2B5EF4-FFF2-40B4-BE49-F238E27FC236}">
                  <a16:creationId xmlns:a16="http://schemas.microsoft.com/office/drawing/2014/main" id="{70671FF7-0FC2-C6E2-859B-0CFB89C198D5}"/>
                </a:ext>
              </a:extLst>
            </p:cNvPr>
            <p:cNvSpPr/>
            <p:nvPr/>
          </p:nvSpPr>
          <p:spPr>
            <a:xfrm>
              <a:off x="3589338" y="7903433"/>
              <a:ext cx="2806779"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71" name="TextBox 70">
              <a:extLst>
                <a:ext uri="{FF2B5EF4-FFF2-40B4-BE49-F238E27FC236}">
                  <a16:creationId xmlns:a16="http://schemas.microsoft.com/office/drawing/2014/main" id="{22B9EE8C-A825-7478-D0FB-35691337D447}"/>
                </a:ext>
              </a:extLst>
            </p:cNvPr>
            <p:cNvSpPr txBox="1"/>
            <p:nvPr/>
          </p:nvSpPr>
          <p:spPr>
            <a:xfrm>
              <a:off x="3650031" y="7932470"/>
              <a:ext cx="2912144" cy="155613"/>
            </a:xfrm>
            <a:prstGeom prst="rect">
              <a:avLst/>
            </a:prstGeom>
            <a:noFill/>
          </p:spPr>
          <p:txBody>
            <a:bodyPr wrap="square" lIns="19736" rIns="19736" anchor="ctr">
              <a:spAutoFit/>
            </a:bodyPr>
            <a:lstStyle/>
            <a:p>
              <a:r>
                <a:rPr lang="en-US" sz="2200" b="1" dirty="0">
                  <a:solidFill>
                    <a:srgbClr val="FFFFFF"/>
                  </a:solidFill>
                  <a:latin typeface="Aptos"/>
                </a:rPr>
                <a:t>5. METHODOLOGY HIGHLIGHTS</a:t>
              </a:r>
            </a:p>
          </p:txBody>
        </p:sp>
      </p:grpSp>
      <p:grpSp>
        <p:nvGrpSpPr>
          <p:cNvPr id="72" name="Group 71">
            <a:extLst>
              <a:ext uri="{FF2B5EF4-FFF2-40B4-BE49-F238E27FC236}">
                <a16:creationId xmlns:a16="http://schemas.microsoft.com/office/drawing/2014/main" id="{F37DCFB5-8A53-3332-3E30-1A21C96ACD18}"/>
              </a:ext>
            </a:extLst>
          </p:cNvPr>
          <p:cNvGrpSpPr/>
          <p:nvPr/>
        </p:nvGrpSpPr>
        <p:grpSpPr>
          <a:xfrm>
            <a:off x="175120" y="9981026"/>
            <a:ext cx="4902737" cy="861432"/>
            <a:chOff x="3589338" y="7903433"/>
            <a:chExt cx="3059035" cy="311102"/>
          </a:xfrm>
        </p:grpSpPr>
        <p:sp>
          <p:nvSpPr>
            <p:cNvPr id="73" name="Rounded Rectangle 21">
              <a:extLst>
                <a:ext uri="{FF2B5EF4-FFF2-40B4-BE49-F238E27FC236}">
                  <a16:creationId xmlns:a16="http://schemas.microsoft.com/office/drawing/2014/main" id="{12180C70-8500-78E4-40B8-F2C0F036E927}"/>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74" name="TextBox 73">
              <a:extLst>
                <a:ext uri="{FF2B5EF4-FFF2-40B4-BE49-F238E27FC236}">
                  <a16:creationId xmlns:a16="http://schemas.microsoft.com/office/drawing/2014/main" id="{595BC4F3-F414-A41E-4656-3185339D5C25}"/>
                </a:ext>
              </a:extLst>
            </p:cNvPr>
            <p:cNvSpPr txBox="1"/>
            <p:nvPr/>
          </p:nvSpPr>
          <p:spPr>
            <a:xfrm>
              <a:off x="3680080" y="7936655"/>
              <a:ext cx="2912144" cy="277880"/>
            </a:xfrm>
            <a:prstGeom prst="rect">
              <a:avLst/>
            </a:prstGeom>
            <a:noFill/>
          </p:spPr>
          <p:txBody>
            <a:bodyPr wrap="square" lIns="19736" rIns="19736" anchor="ctr">
              <a:spAutoFit/>
            </a:bodyPr>
            <a:lstStyle/>
            <a:p>
              <a:r>
                <a:rPr lang="en-US" sz="2200" b="1" dirty="0">
                  <a:solidFill>
                    <a:srgbClr val="FFFFFF"/>
                  </a:solidFill>
                  <a:latin typeface="Aptos"/>
                </a:rPr>
                <a:t>3. MODELS USED</a:t>
              </a:r>
            </a:p>
            <a:p>
              <a:endParaRPr lang="en-US" sz="2200" b="1" dirty="0">
                <a:solidFill>
                  <a:srgbClr val="FFFFFF"/>
                </a:solidFill>
                <a:latin typeface="Aptos"/>
              </a:endParaRPr>
            </a:p>
          </p:txBody>
        </p:sp>
      </p:grpSp>
      <p:pic>
        <p:nvPicPr>
          <p:cNvPr id="83" name="Picture 82">
            <a:extLst>
              <a:ext uri="{FF2B5EF4-FFF2-40B4-BE49-F238E27FC236}">
                <a16:creationId xmlns:a16="http://schemas.microsoft.com/office/drawing/2014/main" id="{AEEDC1C1-B489-915E-55C0-210CF9CADB38}"/>
              </a:ext>
            </a:extLst>
          </p:cNvPr>
          <p:cNvPicPr>
            <a:picLocks noChangeAspect="1"/>
          </p:cNvPicPr>
          <p:nvPr/>
        </p:nvPicPr>
        <p:blipFill>
          <a:blip r:embed="rId6"/>
          <a:stretch>
            <a:fillRect/>
          </a:stretch>
        </p:blipFill>
        <p:spPr>
          <a:xfrm>
            <a:off x="16252432" y="5406531"/>
            <a:ext cx="4976355" cy="1606854"/>
          </a:xfrm>
          <a:prstGeom prst="rect">
            <a:avLst/>
          </a:prstGeom>
        </p:spPr>
      </p:pic>
      <p:grpSp>
        <p:nvGrpSpPr>
          <p:cNvPr id="84" name="Group 83">
            <a:extLst>
              <a:ext uri="{FF2B5EF4-FFF2-40B4-BE49-F238E27FC236}">
                <a16:creationId xmlns:a16="http://schemas.microsoft.com/office/drawing/2014/main" id="{53B917D5-8CB9-4F10-D66F-CCE2F74BC1F7}"/>
              </a:ext>
            </a:extLst>
          </p:cNvPr>
          <p:cNvGrpSpPr/>
          <p:nvPr/>
        </p:nvGrpSpPr>
        <p:grpSpPr>
          <a:xfrm>
            <a:off x="16206295" y="10361990"/>
            <a:ext cx="4976355" cy="601125"/>
            <a:chOff x="3589338" y="7903433"/>
            <a:chExt cx="3059035" cy="217093"/>
          </a:xfrm>
        </p:grpSpPr>
        <p:sp>
          <p:nvSpPr>
            <p:cNvPr id="85" name="Rounded Rectangle 21">
              <a:extLst>
                <a:ext uri="{FF2B5EF4-FFF2-40B4-BE49-F238E27FC236}">
                  <a16:creationId xmlns:a16="http://schemas.microsoft.com/office/drawing/2014/main" id="{A75125BA-05A1-4C97-3235-3152D5634900}"/>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59" name="TextBox 158">
              <a:extLst>
                <a:ext uri="{FF2B5EF4-FFF2-40B4-BE49-F238E27FC236}">
                  <a16:creationId xmlns:a16="http://schemas.microsoft.com/office/drawing/2014/main" id="{28B5E29C-6A39-CF67-D02D-FB2AC1D9F5BE}"/>
                </a:ext>
              </a:extLst>
            </p:cNvPr>
            <p:cNvSpPr txBox="1"/>
            <p:nvPr/>
          </p:nvSpPr>
          <p:spPr>
            <a:xfrm>
              <a:off x="3650031" y="7932470"/>
              <a:ext cx="1953210" cy="155612"/>
            </a:xfrm>
            <a:prstGeom prst="rect">
              <a:avLst/>
            </a:prstGeom>
            <a:noFill/>
          </p:spPr>
          <p:txBody>
            <a:bodyPr wrap="square" lIns="19736" rIns="19736" anchor="ctr">
              <a:spAutoFit/>
            </a:bodyPr>
            <a:lstStyle/>
            <a:p>
              <a:r>
                <a:rPr lang="en-US" sz="2200" b="1" dirty="0">
                  <a:solidFill>
                    <a:srgbClr val="FFFFFF"/>
                  </a:solidFill>
                  <a:latin typeface="Aptos"/>
                </a:rPr>
                <a:t>8. REFERENCES</a:t>
              </a:r>
              <a:endParaRPr sz="2200" b="1" dirty="0">
                <a:solidFill>
                  <a:srgbClr val="FFFFFF"/>
                </a:solidFill>
                <a:latin typeface="Aptos"/>
              </a:endParaRPr>
            </a:p>
          </p:txBody>
        </p:sp>
      </p:grpSp>
      <p:grpSp>
        <p:nvGrpSpPr>
          <p:cNvPr id="176" name="Group 175">
            <a:extLst>
              <a:ext uri="{FF2B5EF4-FFF2-40B4-BE49-F238E27FC236}">
                <a16:creationId xmlns:a16="http://schemas.microsoft.com/office/drawing/2014/main" id="{1F286583-586F-43C3-300D-BF4B557100A6}"/>
              </a:ext>
            </a:extLst>
          </p:cNvPr>
          <p:cNvGrpSpPr/>
          <p:nvPr/>
        </p:nvGrpSpPr>
        <p:grpSpPr>
          <a:xfrm>
            <a:off x="155238" y="2073852"/>
            <a:ext cx="5043360" cy="601125"/>
            <a:chOff x="3589338" y="7903433"/>
            <a:chExt cx="3059035" cy="217093"/>
          </a:xfrm>
        </p:grpSpPr>
        <p:sp>
          <p:nvSpPr>
            <p:cNvPr id="177" name="Rounded Rectangle 21">
              <a:extLst>
                <a:ext uri="{FF2B5EF4-FFF2-40B4-BE49-F238E27FC236}">
                  <a16:creationId xmlns:a16="http://schemas.microsoft.com/office/drawing/2014/main" id="{CB0F7EF0-D3F6-1208-8469-AE84EFF6D5D6}"/>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78" name="TextBox 177">
              <a:extLst>
                <a:ext uri="{FF2B5EF4-FFF2-40B4-BE49-F238E27FC236}">
                  <a16:creationId xmlns:a16="http://schemas.microsoft.com/office/drawing/2014/main" id="{BBFB68CE-4836-2D6A-2D9A-703B1E88B060}"/>
                </a:ext>
              </a:extLst>
            </p:cNvPr>
            <p:cNvSpPr txBox="1"/>
            <p:nvPr/>
          </p:nvSpPr>
          <p:spPr>
            <a:xfrm>
              <a:off x="3650031" y="7932470"/>
              <a:ext cx="1953210" cy="155612"/>
            </a:xfrm>
            <a:prstGeom prst="rect">
              <a:avLst/>
            </a:prstGeom>
            <a:noFill/>
          </p:spPr>
          <p:txBody>
            <a:bodyPr wrap="square" lIns="19736" rIns="19736" anchor="ctr">
              <a:spAutoFit/>
            </a:bodyPr>
            <a:lstStyle/>
            <a:p>
              <a:r>
                <a:rPr lang="en-US" sz="2200" b="1" dirty="0">
                  <a:solidFill>
                    <a:srgbClr val="FFFFFF"/>
                  </a:solidFill>
                  <a:latin typeface="Aptos"/>
                </a:rPr>
                <a:t>1. Introduction</a:t>
              </a:r>
              <a:endParaRPr sz="2200" b="1" dirty="0">
                <a:solidFill>
                  <a:srgbClr val="FFFFFF"/>
                </a:solidFill>
                <a:latin typeface="Aptos"/>
              </a:endParaRPr>
            </a:p>
          </p:txBody>
        </p:sp>
      </p:grpSp>
      <p:grpSp>
        <p:nvGrpSpPr>
          <p:cNvPr id="179" name="Group 178">
            <a:extLst>
              <a:ext uri="{FF2B5EF4-FFF2-40B4-BE49-F238E27FC236}">
                <a16:creationId xmlns:a16="http://schemas.microsoft.com/office/drawing/2014/main" id="{2E2A7BFC-6EDA-8B5C-3941-F3A78C903267}"/>
              </a:ext>
            </a:extLst>
          </p:cNvPr>
          <p:cNvGrpSpPr/>
          <p:nvPr/>
        </p:nvGrpSpPr>
        <p:grpSpPr>
          <a:xfrm>
            <a:off x="5690338" y="2073852"/>
            <a:ext cx="9962592" cy="601125"/>
            <a:chOff x="3589338" y="7903433"/>
            <a:chExt cx="3059035" cy="217093"/>
          </a:xfrm>
        </p:grpSpPr>
        <p:sp>
          <p:nvSpPr>
            <p:cNvPr id="180" name="Rounded Rectangle 21">
              <a:extLst>
                <a:ext uri="{FF2B5EF4-FFF2-40B4-BE49-F238E27FC236}">
                  <a16:creationId xmlns:a16="http://schemas.microsoft.com/office/drawing/2014/main" id="{4279DC66-B5D8-6824-1539-AD47022B135E}"/>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81" name="TextBox 180">
              <a:extLst>
                <a:ext uri="{FF2B5EF4-FFF2-40B4-BE49-F238E27FC236}">
                  <a16:creationId xmlns:a16="http://schemas.microsoft.com/office/drawing/2014/main" id="{39380E99-68B8-D300-87E9-A84DC0E8C97E}"/>
                </a:ext>
              </a:extLst>
            </p:cNvPr>
            <p:cNvSpPr txBox="1"/>
            <p:nvPr/>
          </p:nvSpPr>
          <p:spPr>
            <a:xfrm>
              <a:off x="3650031" y="7932470"/>
              <a:ext cx="1953210" cy="155612"/>
            </a:xfrm>
            <a:prstGeom prst="rect">
              <a:avLst/>
            </a:prstGeom>
            <a:noFill/>
          </p:spPr>
          <p:txBody>
            <a:bodyPr wrap="square" lIns="19736" rIns="19736" anchor="ctr">
              <a:spAutoFit/>
            </a:bodyPr>
            <a:lstStyle/>
            <a:p>
              <a:r>
                <a:rPr lang="en-US" sz="2200" b="1" dirty="0">
                  <a:solidFill>
                    <a:srgbClr val="FFFFFF"/>
                  </a:solidFill>
                  <a:latin typeface="Aptos"/>
                </a:rPr>
                <a:t>4. THREE-STAGE ARCHITECTURE OVERVIEW</a:t>
              </a:r>
            </a:p>
          </p:txBody>
        </p:sp>
      </p:grpSp>
      <p:grpSp>
        <p:nvGrpSpPr>
          <p:cNvPr id="182" name="Group 181">
            <a:extLst>
              <a:ext uri="{FF2B5EF4-FFF2-40B4-BE49-F238E27FC236}">
                <a16:creationId xmlns:a16="http://schemas.microsoft.com/office/drawing/2014/main" id="{4870F1C7-B7C1-DBDB-598A-138B5D685FCB}"/>
              </a:ext>
            </a:extLst>
          </p:cNvPr>
          <p:cNvGrpSpPr/>
          <p:nvPr/>
        </p:nvGrpSpPr>
        <p:grpSpPr>
          <a:xfrm>
            <a:off x="16167397" y="2073855"/>
            <a:ext cx="4891209" cy="601125"/>
            <a:chOff x="3589338" y="7903433"/>
            <a:chExt cx="3059035" cy="217093"/>
          </a:xfrm>
        </p:grpSpPr>
        <p:sp>
          <p:nvSpPr>
            <p:cNvPr id="183" name="Rounded Rectangle 21">
              <a:extLst>
                <a:ext uri="{FF2B5EF4-FFF2-40B4-BE49-F238E27FC236}">
                  <a16:creationId xmlns:a16="http://schemas.microsoft.com/office/drawing/2014/main" id="{5F2BE6FF-B503-0D7B-5A68-9E306F841C8E}"/>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84" name="TextBox 183">
              <a:extLst>
                <a:ext uri="{FF2B5EF4-FFF2-40B4-BE49-F238E27FC236}">
                  <a16:creationId xmlns:a16="http://schemas.microsoft.com/office/drawing/2014/main" id="{9B5B382B-5318-6AE5-681F-454274D8114E}"/>
                </a:ext>
              </a:extLst>
            </p:cNvPr>
            <p:cNvSpPr txBox="1"/>
            <p:nvPr/>
          </p:nvSpPr>
          <p:spPr>
            <a:xfrm>
              <a:off x="3650031" y="7932470"/>
              <a:ext cx="1953210" cy="155612"/>
            </a:xfrm>
            <a:prstGeom prst="rect">
              <a:avLst/>
            </a:prstGeom>
            <a:noFill/>
          </p:spPr>
          <p:txBody>
            <a:bodyPr wrap="square" lIns="19736" rIns="19736" anchor="ctr">
              <a:spAutoFit/>
            </a:bodyPr>
            <a:lstStyle/>
            <a:p>
              <a:r>
                <a:rPr lang="en-US" sz="2200" b="1" dirty="0">
                  <a:solidFill>
                    <a:srgbClr val="FFFFFF"/>
                  </a:solidFill>
                  <a:latin typeface="Aptos"/>
                </a:rPr>
                <a:t>6. RESULTS</a:t>
              </a:r>
              <a:endParaRPr sz="2200" b="1" dirty="0">
                <a:solidFill>
                  <a:srgbClr val="FFFFFF"/>
                </a:solidFill>
                <a:latin typeface="Aptos"/>
              </a:endParaRPr>
            </a:p>
          </p:txBody>
        </p:sp>
      </p:grpSp>
      <p:grpSp>
        <p:nvGrpSpPr>
          <p:cNvPr id="185" name="Group 184">
            <a:extLst>
              <a:ext uri="{FF2B5EF4-FFF2-40B4-BE49-F238E27FC236}">
                <a16:creationId xmlns:a16="http://schemas.microsoft.com/office/drawing/2014/main" id="{8B09BACA-3850-CF8C-46B3-93A85964F240}"/>
              </a:ext>
            </a:extLst>
          </p:cNvPr>
          <p:cNvGrpSpPr/>
          <p:nvPr/>
        </p:nvGrpSpPr>
        <p:grpSpPr>
          <a:xfrm>
            <a:off x="16261905" y="7202953"/>
            <a:ext cx="4944141" cy="601125"/>
            <a:chOff x="3589338" y="7903433"/>
            <a:chExt cx="3059035" cy="217093"/>
          </a:xfrm>
        </p:grpSpPr>
        <p:sp>
          <p:nvSpPr>
            <p:cNvPr id="186" name="Rounded Rectangle 21">
              <a:extLst>
                <a:ext uri="{FF2B5EF4-FFF2-40B4-BE49-F238E27FC236}">
                  <a16:creationId xmlns:a16="http://schemas.microsoft.com/office/drawing/2014/main" id="{DA7E00A8-B83C-C806-8D41-79E5EC0C46E1}"/>
                </a:ext>
              </a:extLst>
            </p:cNvPr>
            <p:cNvSpPr/>
            <p:nvPr/>
          </p:nvSpPr>
          <p:spPr>
            <a:xfrm>
              <a:off x="3589338" y="7903433"/>
              <a:ext cx="3059035" cy="217093"/>
            </a:xfrm>
            <a:prstGeom prst="roundRect">
              <a:avLst/>
            </a:prstGeom>
            <a:solidFill>
              <a:srgbClr val="072349"/>
            </a:solidFill>
            <a:ln w="12700">
              <a:solidFill>
                <a:srgbClr val="0723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504" dirty="0"/>
            </a:p>
          </p:txBody>
        </p:sp>
        <p:sp>
          <p:nvSpPr>
            <p:cNvPr id="187" name="TextBox 186">
              <a:extLst>
                <a:ext uri="{FF2B5EF4-FFF2-40B4-BE49-F238E27FC236}">
                  <a16:creationId xmlns:a16="http://schemas.microsoft.com/office/drawing/2014/main" id="{33133FB2-35EC-7A7E-A50A-5A0B5F088A17}"/>
                </a:ext>
              </a:extLst>
            </p:cNvPr>
            <p:cNvSpPr txBox="1"/>
            <p:nvPr/>
          </p:nvSpPr>
          <p:spPr>
            <a:xfrm>
              <a:off x="3650031" y="7932469"/>
              <a:ext cx="1953210" cy="155612"/>
            </a:xfrm>
            <a:prstGeom prst="rect">
              <a:avLst/>
            </a:prstGeom>
            <a:noFill/>
          </p:spPr>
          <p:txBody>
            <a:bodyPr wrap="square" lIns="19736" rIns="19736" anchor="ctr">
              <a:spAutoFit/>
            </a:bodyPr>
            <a:lstStyle/>
            <a:p>
              <a:r>
                <a:rPr lang="en-US" sz="2200" b="1" dirty="0">
                  <a:solidFill>
                    <a:srgbClr val="FFFFFF"/>
                  </a:solidFill>
                  <a:latin typeface="Aptos"/>
                </a:rPr>
                <a:t>7. CONCLUSION</a:t>
              </a:r>
            </a:p>
          </p:txBody>
        </p:sp>
      </p:grpSp>
      <p:sp>
        <p:nvSpPr>
          <p:cNvPr id="3" name="TextBox 2">
            <a:extLst>
              <a:ext uri="{FF2B5EF4-FFF2-40B4-BE49-F238E27FC236}">
                <a16:creationId xmlns:a16="http://schemas.microsoft.com/office/drawing/2014/main" id="{2A973366-3404-0DC3-8411-BB3F70FA1ACA}"/>
              </a:ext>
            </a:extLst>
          </p:cNvPr>
          <p:cNvSpPr txBox="1"/>
          <p:nvPr/>
        </p:nvSpPr>
        <p:spPr>
          <a:xfrm>
            <a:off x="10631061" y="9683050"/>
            <a:ext cx="4836160" cy="4016484"/>
          </a:xfrm>
          <a:prstGeom prst="rect">
            <a:avLst/>
          </a:prstGeom>
          <a:noFill/>
        </p:spPr>
        <p:txBody>
          <a:bodyPr wrap="square" rtlCol="0">
            <a:spAutoFit/>
          </a:bodyPr>
          <a:lstStyle/>
          <a:p>
            <a:r>
              <a:rPr lang="en-US" sz="1700" b="1" dirty="0"/>
              <a:t>3. Fused-Feature Residual Error Correction</a:t>
            </a:r>
            <a:br>
              <a:rPr lang="en-US" sz="1700" dirty="0"/>
            </a:br>
            <a:r>
              <a:rPr lang="en-US" sz="1700" dirty="0"/>
              <a:t>• Fuse </a:t>
            </a:r>
            <a:r>
              <a:rPr lang="en-US" sz="1700" b="1" dirty="0"/>
              <a:t>news features</a:t>
            </a:r>
            <a:r>
              <a:rPr lang="en-US" sz="1700" dirty="0"/>
              <a:t> (severity, sentiment, impact score, event weight) with </a:t>
            </a:r>
            <a:r>
              <a:rPr lang="en-US" sz="1700" b="1" dirty="0"/>
              <a:t>1-day/5-day returns</a:t>
            </a:r>
            <a:r>
              <a:rPr lang="en-US" sz="1700" dirty="0"/>
              <a:t> and historical Stage-2 prediction errors.</a:t>
            </a:r>
            <a:br>
              <a:rPr lang="en-US" sz="1700" dirty="0"/>
            </a:br>
            <a:r>
              <a:rPr lang="en-US" sz="1700" dirty="0"/>
              <a:t>• Benchmark multiple regressors and select the best-performing model.</a:t>
            </a:r>
            <a:br>
              <a:rPr lang="en-US" sz="1700" dirty="0"/>
            </a:br>
            <a:r>
              <a:rPr lang="en-US" sz="1700" dirty="0"/>
              <a:t>• </a:t>
            </a:r>
            <a:r>
              <a:rPr lang="en-US" sz="1700" b="1" dirty="0"/>
              <a:t>Random Forest Regressor</a:t>
            </a:r>
            <a:r>
              <a:rPr lang="en-US" sz="1700" dirty="0"/>
              <a:t> predicts the residual error, which is subtracted from the Stage-2 forecast to obtain the final prediction.</a:t>
            </a:r>
            <a:br>
              <a:rPr lang="en-US" sz="1700" dirty="0"/>
            </a:br>
            <a:r>
              <a:rPr lang="en-US" sz="1700" b="1" dirty="0"/>
              <a:t>4. Temporal Validation &amp; Incremental Learning</a:t>
            </a:r>
            <a:br>
              <a:rPr lang="en-US" sz="1700" dirty="0"/>
            </a:br>
            <a:r>
              <a:rPr lang="en-US" sz="1700" dirty="0"/>
              <a:t>• Use chronological train/validation/test splits to prevent data leakage and look-ahead bias.</a:t>
            </a:r>
            <a:br>
              <a:rPr lang="en-US" sz="1700" dirty="0"/>
            </a:br>
            <a:r>
              <a:rPr lang="en-US" sz="1700" dirty="0"/>
              <a:t>• Continuously accumulate new news data and periodically retrain the models for incremental improvement.</a:t>
            </a:r>
          </a:p>
        </p:txBody>
      </p:sp>
      <p:cxnSp>
        <p:nvCxnSpPr>
          <p:cNvPr id="7" name="Straight Connector 6">
            <a:extLst>
              <a:ext uri="{FF2B5EF4-FFF2-40B4-BE49-F238E27FC236}">
                <a16:creationId xmlns:a16="http://schemas.microsoft.com/office/drawing/2014/main" id="{70172E4D-C4E4-4C6C-A6A0-DEAAFA79E324}"/>
              </a:ext>
            </a:extLst>
          </p:cNvPr>
          <p:cNvCxnSpPr/>
          <p:nvPr/>
        </p:nvCxnSpPr>
        <p:spPr>
          <a:xfrm>
            <a:off x="10631061" y="9702673"/>
            <a:ext cx="0" cy="4259523"/>
          </a:xfrm>
          <a:prstGeom prst="line">
            <a:avLst/>
          </a:prstGeom>
        </p:spPr>
        <p:style>
          <a:lnRef idx="1">
            <a:schemeClr val="accent4"/>
          </a:lnRef>
          <a:fillRef idx="0">
            <a:schemeClr val="accent4"/>
          </a:fillRef>
          <a:effectRef idx="0">
            <a:schemeClr val="accent4"/>
          </a:effectRef>
          <a:fontRef idx="minor">
            <a:schemeClr val="tx1"/>
          </a:fontRef>
        </p:style>
      </p:cxnSp>
      <p:cxnSp>
        <p:nvCxnSpPr>
          <p:cNvPr id="12" name="Straight Arrow Connector 11">
            <a:extLst>
              <a:ext uri="{FF2B5EF4-FFF2-40B4-BE49-F238E27FC236}">
                <a16:creationId xmlns:a16="http://schemas.microsoft.com/office/drawing/2014/main" id="{1654245A-5A98-931B-FCC4-9487C93655DA}"/>
              </a:ext>
            </a:extLst>
          </p:cNvPr>
          <p:cNvCxnSpPr>
            <a:cxnSpLocks/>
            <a:endCxn id="47" idx="1"/>
          </p:cNvCxnSpPr>
          <p:nvPr/>
        </p:nvCxnSpPr>
        <p:spPr>
          <a:xfrm>
            <a:off x="8856277" y="5807153"/>
            <a:ext cx="2684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5B09BBE-1EA7-D8AA-0DFE-CE773303EA08}"/>
              </a:ext>
            </a:extLst>
          </p:cNvPr>
          <p:cNvCxnSpPr>
            <a:cxnSpLocks/>
            <a:stCxn id="47" idx="3"/>
            <a:endCxn id="65" idx="1"/>
          </p:cNvCxnSpPr>
          <p:nvPr/>
        </p:nvCxnSpPr>
        <p:spPr>
          <a:xfrm>
            <a:off x="12263661" y="5807153"/>
            <a:ext cx="2360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8770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369</TotalTime>
  <Words>741</Words>
  <Application>Microsoft Office PowerPoint</Application>
  <PresentationFormat>Custom</PresentationFormat>
  <Paragraphs>64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Alok Yadav</cp:lastModifiedBy>
  <cp:revision>32</cp:revision>
  <dcterms:created xsi:type="dcterms:W3CDTF">2013-01-27T09:14:16Z</dcterms:created>
  <dcterms:modified xsi:type="dcterms:W3CDTF">2026-08-12T11:08:55Z</dcterms:modified>
  <cp:category/>
</cp:coreProperties>
</file>